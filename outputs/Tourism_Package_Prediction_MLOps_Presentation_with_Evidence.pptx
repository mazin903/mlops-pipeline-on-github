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5613858d744f3d" /><Relationship Type="http://schemas.openxmlformats.org/officeDocument/2006/relationships/extended-properties" Target="/docProps/app.xml" Id="R50943157bcac438f" /><Relationship Type="http://schemas.openxmlformats.org/officeDocument/2006/relationships/officeDocument" Target="/ppt/presentation.xml" Id="R9d69ccaa7b0342d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bac7acabd804243"/>
    <p:sldMasterId xmlns:r="http://schemas.openxmlformats.org/officeDocument/2006/relationships" id="2147483660" r:id="Rd29b1fd7caef4e6a"/>
  </p:sldMasterIdLst>
  <p:notesMasterIdLst>
    <p:notesMasterId xmlns:r="http://schemas.openxmlformats.org/officeDocument/2006/relationships" r:id="Ra81e69aa9bb44d02"/>
  </p:notesMasterIdLst>
  <p:sldIdLst>
    <p:sldId xmlns:r="http://schemas.openxmlformats.org/officeDocument/2006/relationships" id="256" r:id="R2cfc97474af34d40"/>
    <p:sldId xmlns:r="http://schemas.openxmlformats.org/officeDocument/2006/relationships" id="257" r:id="Ra31ccc5259154026"/>
    <p:sldId xmlns:r="http://schemas.openxmlformats.org/officeDocument/2006/relationships" id="258" r:id="R5fc0cf43a8c3488d"/>
    <p:sldId xmlns:r="http://schemas.openxmlformats.org/officeDocument/2006/relationships" id="259" r:id="Rb3f89f00eee048da"/>
    <p:sldId xmlns:r="http://schemas.openxmlformats.org/officeDocument/2006/relationships" id="260" r:id="Re094c15673d74d5d"/>
    <p:sldId xmlns:r="http://schemas.openxmlformats.org/officeDocument/2006/relationships" id="261" r:id="R41553f33208044b7"/>
    <p:sldId xmlns:r="http://schemas.openxmlformats.org/officeDocument/2006/relationships" id="262" r:id="Rd626aed4b1ef4095"/>
    <p:sldId xmlns:r="http://schemas.openxmlformats.org/officeDocument/2006/relationships" id="263" r:id="Re22d85475b524eee"/>
    <p:sldId xmlns:r="http://schemas.openxmlformats.org/officeDocument/2006/relationships" id="264" r:id="Ra4e881d609ce4599"/>
    <p:sldId xmlns:r="http://schemas.openxmlformats.org/officeDocument/2006/relationships" id="265" r:id="R00ee7b7b80b84c74"/>
    <p:sldId xmlns:r="http://schemas.openxmlformats.org/officeDocument/2006/relationships" id="266" r:id="Rfe28e04037b4424f"/>
    <p:sldId xmlns:r="http://schemas.openxmlformats.org/officeDocument/2006/relationships" id="267" r:id="R3b33651e29884702"/>
    <p:sldId xmlns:r="http://schemas.openxmlformats.org/officeDocument/2006/relationships" id="268" r:id="Rbb330be7397241de"/>
    <p:sldId xmlns:r="http://schemas.openxmlformats.org/officeDocument/2006/relationships" id="269" r:id="R4a2fa5fee6ab4423"/>
    <p:sldId xmlns:r="http://schemas.openxmlformats.org/officeDocument/2006/relationships" id="270" r:id="R1ffbf9087bbc4d3a"/>
    <p:sldId xmlns:r="http://schemas.openxmlformats.org/officeDocument/2006/relationships" id="271" r:id="R13277974e612414a"/>
    <p:sldId xmlns:r="http://schemas.openxmlformats.org/officeDocument/2006/relationships" id="272" r:id="Rf0ca445efc3b48ba"/>
    <p:sldId xmlns:r="http://schemas.openxmlformats.org/officeDocument/2006/relationships" id="273" r:id="Rfa8e70c044ca4d9d"/>
    <p:sldId xmlns:r="http://schemas.openxmlformats.org/officeDocument/2006/relationships" id="274" r:id="R2fae32e25ce3468a"/>
    <p:sldId xmlns:r="http://schemas.openxmlformats.org/officeDocument/2006/relationships" id="275" r:id="R68e3d48550bc4891"/>
    <p:sldId xmlns:r="http://schemas.openxmlformats.org/officeDocument/2006/relationships" id="276" r:id="R050c5158620e4ee5"/>
    <p:sldId xmlns:r="http://schemas.openxmlformats.org/officeDocument/2006/relationships" id="277" r:id="R9025fc5ec3e244c5"/>
  </p:sldIdLst>
  <p:sldSz cx="9144000" cy="5143500"/>
  <p:notesSz cx="6858000" cy="9144000"/>
  <p:embeddedFontLst>
    <p:embeddedFont>
      <p:font typeface="Nunito SemiBold"/>
      <p:regular xmlns:r="http://schemas.openxmlformats.org/officeDocument/2006/relationships" r:id="R118e91b9c1634bd7"/>
      <p:bold xmlns:r="http://schemas.openxmlformats.org/officeDocument/2006/relationships" r:id="Rafa8ce2d954b47d9"/>
      <p:italic xmlns:r="http://schemas.openxmlformats.org/officeDocument/2006/relationships" r:id="R0d2ea7dcf591480c"/>
      <p:boldItalic xmlns:r="http://schemas.openxmlformats.org/officeDocument/2006/relationships" r:id="Rb793310dc4e841ee"/>
    </p:embeddedFont>
    <p:embeddedFont>
      <p:font typeface="Nunito"/>
      <p:regular xmlns:r="http://schemas.openxmlformats.org/officeDocument/2006/relationships" r:id="R614d70b7ebc641d1"/>
      <p:bold xmlns:r="http://schemas.openxmlformats.org/officeDocument/2006/relationships" r:id="R8cd4ea7f62024c42"/>
      <p:italic xmlns:r="http://schemas.openxmlformats.org/officeDocument/2006/relationships" r:id="R3c6b6e2a66fb431e"/>
      <p:boldItalic xmlns:r="http://schemas.openxmlformats.org/officeDocument/2006/relationships" r:id="Rb55e3ea063144976"/>
    </p:embeddedFont>
    <p:embeddedFont>
      <p:font typeface="Nunito ExtraBold"/>
      <p:bold xmlns:r="http://schemas.openxmlformats.org/officeDocument/2006/relationships" r:id="Rf9213e08dc0a4af1"/>
      <p:boldItalic xmlns:r="http://schemas.openxmlformats.org/officeDocument/2006/relationships" r:id="Ree65ad15fba6465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7C2EA955-FAA9-4741-80A4-FAB2EC53E622}">
  <a:tblStyle styleId="{7C2EA955-FAA9-4741-80A4-FAB2EC53E62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da07217cd54994" /><Relationship Type="http://schemas.openxmlformats.org/officeDocument/2006/relationships/slideMaster" Target="/ppt/slideMasters/slideMaster1.xml" Id="R8bac7acabd804243" /><Relationship Type="http://schemas.openxmlformats.org/officeDocument/2006/relationships/slideMaster" Target="/ppt/slideMasters/slideMaster2.xml" Id="Rd29b1fd7caef4e6a" /><Relationship Type="http://schemas.openxmlformats.org/officeDocument/2006/relationships/notesMaster" Target="/ppt/notesMasters/notesMaster1.xml" Id="Ra81e69aa9bb44d02" /><Relationship Type="http://schemas.openxmlformats.org/officeDocument/2006/relationships/presProps" Target="/ppt/presProps.xml" Id="Rcad39d0a3f144d0d" /><Relationship Type="http://schemas.openxmlformats.org/officeDocument/2006/relationships/viewProps" Target="/ppt/viewProps.xml" Id="Rd42d43719bf64429" /><Relationship Type="http://schemas.openxmlformats.org/officeDocument/2006/relationships/tableStyles" Target="/ppt/tableStyles.xml" Id="R6073bc57ab424a0b" /><Relationship Type="http://schemas.openxmlformats.org/officeDocument/2006/relationships/font" Target="/ppt/fonts/font.dat" Id="R118e91b9c1634bd7" /><Relationship Type="http://schemas.openxmlformats.org/officeDocument/2006/relationships/font" Target="/ppt/fonts/font2.dat" Id="Rafa8ce2d954b47d9" /><Relationship Type="http://schemas.openxmlformats.org/officeDocument/2006/relationships/font" Target="/ppt/fonts/font3.dat" Id="R0d2ea7dcf591480c" /><Relationship Type="http://schemas.openxmlformats.org/officeDocument/2006/relationships/font" Target="/ppt/fonts/font4.dat" Id="Rb793310dc4e841ee" /><Relationship Type="http://schemas.openxmlformats.org/officeDocument/2006/relationships/font" Target="/ppt/fonts/font5.dat" Id="R614d70b7ebc641d1" /><Relationship Type="http://schemas.openxmlformats.org/officeDocument/2006/relationships/font" Target="/ppt/fonts/font6.dat" Id="R8cd4ea7f62024c42" /><Relationship Type="http://schemas.openxmlformats.org/officeDocument/2006/relationships/font" Target="/ppt/fonts/font7.dat" Id="R3c6b6e2a66fb431e" /><Relationship Type="http://schemas.openxmlformats.org/officeDocument/2006/relationships/font" Target="/ppt/fonts/font8.dat" Id="Rb55e3ea063144976" /><Relationship Type="http://schemas.openxmlformats.org/officeDocument/2006/relationships/font" Target="/ppt/fonts/font9.dat" Id="Rf9213e08dc0a4af1" /><Relationship Type="http://schemas.openxmlformats.org/officeDocument/2006/relationships/font" Target="/ppt/fonts/font10.dat" Id="Ree65ad15fba64656" /><Relationship Type="http://schemas.openxmlformats.org/officeDocument/2006/relationships/slide" Target="/ppt/slides/slide1.xml" Id="R2cfc97474af34d40" /><Relationship Type="http://schemas.openxmlformats.org/officeDocument/2006/relationships/slide" Target="/ppt/slides/slide2.xml" Id="Ra31ccc5259154026" /><Relationship Type="http://schemas.openxmlformats.org/officeDocument/2006/relationships/slide" Target="/ppt/slides/slide3.xml" Id="R5fc0cf43a8c3488d" /><Relationship Type="http://schemas.openxmlformats.org/officeDocument/2006/relationships/slide" Target="/ppt/slides/slide4.xml" Id="Rb3f89f00eee048da" /><Relationship Type="http://schemas.openxmlformats.org/officeDocument/2006/relationships/slide" Target="/ppt/slides/slide5.xml" Id="Re094c15673d74d5d" /><Relationship Type="http://schemas.openxmlformats.org/officeDocument/2006/relationships/slide" Target="/ppt/slides/slide6.xml" Id="R41553f33208044b7" /><Relationship Type="http://schemas.openxmlformats.org/officeDocument/2006/relationships/slide" Target="/ppt/slides/slide7.xml" Id="Rd626aed4b1ef4095" /><Relationship Type="http://schemas.openxmlformats.org/officeDocument/2006/relationships/slide" Target="/ppt/slides/slide8.xml" Id="Re22d85475b524eee" /><Relationship Type="http://schemas.openxmlformats.org/officeDocument/2006/relationships/slide" Target="/ppt/slides/slide9.xml" Id="Ra4e881d609ce4599" /><Relationship Type="http://schemas.openxmlformats.org/officeDocument/2006/relationships/slide" Target="/ppt/slides/slide10.xml" Id="R00ee7b7b80b84c74" /><Relationship Type="http://schemas.openxmlformats.org/officeDocument/2006/relationships/slide" Target="/ppt/slides/slide11.xml" Id="Rfe28e04037b4424f" /><Relationship Type="http://schemas.openxmlformats.org/officeDocument/2006/relationships/slide" Target="/ppt/slides/slide12.xml" Id="R3b33651e29884702" /><Relationship Type="http://schemas.openxmlformats.org/officeDocument/2006/relationships/slide" Target="/ppt/slides/slide13.xml" Id="Rbb330be7397241de" /><Relationship Type="http://schemas.openxmlformats.org/officeDocument/2006/relationships/slide" Target="/ppt/slides/slide14.xml" Id="R4a2fa5fee6ab4423" /><Relationship Type="http://schemas.openxmlformats.org/officeDocument/2006/relationships/slide" Target="/ppt/slides/slide15.xml" Id="R1ffbf9087bbc4d3a" /><Relationship Type="http://schemas.openxmlformats.org/officeDocument/2006/relationships/slide" Target="/ppt/slides/slide16.xml" Id="R13277974e612414a" /><Relationship Type="http://schemas.openxmlformats.org/officeDocument/2006/relationships/slide" Target="/ppt/slides/slide17.xml" Id="Rf0ca445efc3b48ba" /><Relationship Type="http://schemas.openxmlformats.org/officeDocument/2006/relationships/slide" Target="/ppt/slides/slide18.xml" Id="Rfa8e70c044ca4d9d" /><Relationship Type="http://schemas.openxmlformats.org/officeDocument/2006/relationships/slide" Target="/ppt/slides/slide19.xml" Id="R2fae32e25ce3468a" /><Relationship Type="http://schemas.openxmlformats.org/officeDocument/2006/relationships/slide" Target="/ppt/slides/slide20.xml" Id="R68e3d48550bc4891" /><Relationship Type="http://schemas.openxmlformats.org/officeDocument/2006/relationships/slide" Target="/ppt/slides/slide21.xml" Id="R050c5158620e4ee5" /><Relationship Type="http://schemas.openxmlformats.org/officeDocument/2006/relationships/slide" Target="/ppt/slides/slide22.xml" Id="R9025fc5ec3e244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874530ea23c41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af2e0ebb5b48ce" /><Relationship Type="http://schemas.openxmlformats.org/officeDocument/2006/relationships/notesMaster" Target="/ppt/notesMasters/notesMaster1.xml" Id="Re05623dd18f546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fe2c3054f842a4" /><Relationship Type="http://schemas.openxmlformats.org/officeDocument/2006/relationships/notesMaster" Target="/ppt/notesMasters/notesMaster1.xml" Id="Rb0919bdc90914b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ef1e2a0c514afa" /><Relationship Type="http://schemas.openxmlformats.org/officeDocument/2006/relationships/notesMaster" Target="/ppt/notesMasters/notesMaster1.xml" Id="R9a528e4bb79543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f9fa115cf14555" /><Relationship Type="http://schemas.openxmlformats.org/officeDocument/2006/relationships/notesMaster" Target="/ppt/notesMasters/notesMaster1.xml" Id="R93c69c8214ae40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743e63e14b4799" /><Relationship Type="http://schemas.openxmlformats.org/officeDocument/2006/relationships/notesMaster" Target="/ppt/notesMasters/notesMaster1.xml" Id="Re8dbff0fa4d949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24e6fb33ee4574" /><Relationship Type="http://schemas.openxmlformats.org/officeDocument/2006/relationships/notesMaster" Target="/ppt/notesMasters/notesMaster1.xml" Id="R1dd1647ba3f24f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293740837e4f5c" /><Relationship Type="http://schemas.openxmlformats.org/officeDocument/2006/relationships/notesMaster" Target="/ppt/notesMasters/notesMaster1.xml" Id="R3750507a57e84d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efeb63a57d4651" /><Relationship Type="http://schemas.openxmlformats.org/officeDocument/2006/relationships/notesMaster" Target="/ppt/notesMasters/notesMaster1.xml" Id="Rea5c4630dea74a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9135b5cbdd4a52" /><Relationship Type="http://schemas.openxmlformats.org/officeDocument/2006/relationships/notesMaster" Target="/ppt/notesMasters/notesMaster1.xml" Id="R9cb855e7c79849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42905d22b04baa" /><Relationship Type="http://schemas.openxmlformats.org/officeDocument/2006/relationships/notesMaster" Target="/ppt/notesMasters/notesMaster1.xml" Id="R11f33d40c87d4f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7adc21d1734a3e" /><Relationship Type="http://schemas.openxmlformats.org/officeDocument/2006/relationships/notesMaster" Target="/ppt/notesMasters/notesMaster1.xml" Id="R9ac09496275343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b08baffac846c5" /><Relationship Type="http://schemas.openxmlformats.org/officeDocument/2006/relationships/notesMaster" Target="/ppt/notesMasters/notesMaster1.xml" Id="Ra6815ba3101742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1ecf9ee29d4770" /><Relationship Type="http://schemas.openxmlformats.org/officeDocument/2006/relationships/notesMaster" Target="/ppt/notesMasters/notesMaster1.xml" Id="R4ff47ee61ffd48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0c0a9c02f2451e" /><Relationship Type="http://schemas.openxmlformats.org/officeDocument/2006/relationships/notesMaster" Target="/ppt/notesMasters/notesMaster1.xml" Id="Rc78977feb57643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4e5289fb164f51" /><Relationship Type="http://schemas.openxmlformats.org/officeDocument/2006/relationships/notesMaster" Target="/ppt/notesMasters/notesMaster1.xml" Id="R42913631b3704d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97b3e387a94a4b" /><Relationship Type="http://schemas.openxmlformats.org/officeDocument/2006/relationships/notesMaster" Target="/ppt/notesMasters/notesMaster1.xml" Id="Ra94b9b0a9c5f42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70621aee2a4e1c" /><Relationship Type="http://schemas.openxmlformats.org/officeDocument/2006/relationships/notesMaster" Target="/ppt/notesMasters/notesMaster1.xml" Id="R346c6fca50a944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a167bb726641f8" /><Relationship Type="http://schemas.openxmlformats.org/officeDocument/2006/relationships/notesMaster" Target="/ppt/notesMasters/notesMaster1.xml" Id="R483ddd4488d54c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3bd61775e143a8" /><Relationship Type="http://schemas.openxmlformats.org/officeDocument/2006/relationships/notesMaster" Target="/ppt/notesMasters/notesMaster1.xml" Id="R74b8a6a57de2435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83b42a71114719" /><Relationship Type="http://schemas.openxmlformats.org/officeDocument/2006/relationships/notesMaster" Target="/ppt/notesMasters/notesMaster1.xml" Id="R2b264ee97fea4d4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30634da92841d1" /><Relationship Type="http://schemas.openxmlformats.org/officeDocument/2006/relationships/notesMaster" Target="/ppt/notesMasters/notesMaster1.xml" Id="Rd260f57c30d84b1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c13fe3309e642ee" /><Relationship Type="http://schemas.openxmlformats.org/officeDocument/2006/relationships/notesMaster" Target="/ppt/notesMasters/notesMaster1.xml" Id="R2ac4cbeffede47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prompt.extracted.txt: assignment context and presentation audience.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required MLOps evidence areas.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 instruction: cover name spelling confirmed as Mazin Alahmadi.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prompt.extracted.txt: visible deck should focus on business analysis, not code.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agenda mirrors scoring categories.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tourism_project/reports/business_summary.json: 4,011 customers, 774 buyers, 19.3% conversion.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tourism_project/reports/metrics.json: local test metrics from the trained model.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tourism_project/model_building/train.py: model training and threshold selection.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prompt.extracted.txt: prepare business overview, solution approach, insights, recommendations, and benefits.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GitHub, Hugging Face, deployment, and workflow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tourism_project/model_building/data_register.py: dataset repository creation and raw data upload.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tourism_project/data/README.md: dataset card content.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Data Registration scoring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tourism_project/model_building/prep.py: data loading, cleaning, splitting, and processed upload logic.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tourism_project/data/processed/*.csv: generated cleaned, train, and test files.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Data Preparation scoring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tourism_project/reports/business_summary.json: base conversion and summarized takeaways.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tourism_project/reports/conversion_by_Passport.csv: passport segment conversion.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tourism_project/reports/conversion_by_ProductPitched.csv: product segment conversion.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tourism_project/reports/conversion_by_MaritalStatus.csv: marital-status segment conversion.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tourism_project/model_building/train.py: preprocessing, XGBoost training, grid search, MLflow logging, and model packaging.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tourism_project/reports/metrics.json: model performance.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tourism_project/model_building/model_card.md: Model Hub documentation.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tourism_project/reports/threshold_analysis.csv: threshold comparison table.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tourism_project/reports/metrics.json: selected-threshold test metrics.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tourism_project/reports/feature_importance.csv: top model drivers.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tourism_project/deployment/app.py: Streamlit scoring app and model download logic.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tourism_project/deployment/Dockerfile: container configuration.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tourism_project/hosting/hosting.py: Hugging Face Space upload script.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Great Learning support response: Streamlit Community Cloud deployment is acceptable and HF subscription is optional.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Streamlit Docs: https://docs.streamlit.io/deploy/streamlit-community-cloud/deploy-your-app/deploy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Hugging Face Docs: https://huggingface.co/docs/hub/spaces-sdks-static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Deployment scoring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.github/workflows/pipeline.yml: GitHub Actions pipeline definition.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.env.example: required environment variables.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GitHub Actions scoring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Output Evaluation requires links and screenshots.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README.md: local run, Colab run, account setup, and repository structure.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GitHub repository and Hugging Face username.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Great Learning support response: Streamlit Community Cloud deployment details are acceptable.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Source slide 10 preserved as the appendix divider.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tourism_project/config.py: feature lists and target variable.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tourism_project/data/README.md: dataset documentation.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tourism_project/model_building/prep.py: generated processed outputs.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tourism_project/model_building/train.py: approved algorithm, tuning grid, MLflow logging, and model hub upload.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tourism_project/reports/metrics.json: evaluation metrics.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tourism_project/reports/feature_importance.csv: feature importance outputs.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.github/workflows/pipeline.yml: CI/CD implementation.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tourism_project/hosting/hosting.py: deployment upload.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workflow evidence and automatic push-back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file: outputs/screenshots/github-repo.png</a:t>
            </a:r>
          </a:p>
          <a:p xmlns:a="http://schemas.openxmlformats.org/drawingml/2006/main">
            <a:r>
              <a:t>- Evidence added to support the rubric output-evaluation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file: outputs/screenshots/github-actions-final.png</a:t>
            </a:r>
          </a:p>
          <a:p xmlns:a="http://schemas.openxmlformats.org/drawingml/2006/main">
            <a:r>
              <a:t>- Evidence added to support the rubric output-evaluation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file: outputs/screenshots/hf-dataset-final.png</a:t>
            </a:r>
          </a:p>
          <a:p xmlns:a="http://schemas.openxmlformats.org/drawingml/2006/main">
            <a:r>
              <a:t>- Evidence added to support the rubric output-evaluation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file: outputs/screenshots/hf-model.png</a:t>
            </a:r>
          </a:p>
          <a:p xmlns:a="http://schemas.openxmlformats.org/drawingml/2006/main">
            <a:r>
              <a:t>- Evidence added to support the rubric output-evaluation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file: outputs/screenshots/streamlit-cloud-user.png</a:t>
            </a:r>
          </a:p>
          <a:p xmlns:a="http://schemas.openxmlformats.org/drawingml/2006/main">
            <a:r>
              <a:t>- Evidence added to support the rubric output-evaluation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file: outputs/screenshots/hf-space.png</a:t>
            </a:r>
          </a:p>
          <a:p xmlns:a="http://schemas.openxmlformats.org/drawingml/2006/main">
            <a:r>
              <a:t>- Evidence added to support the rubric output-evaluation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122fd016946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2c68f1e1349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71cf1278c47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ae108f91b42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56eca32b047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9fe1594704f0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981eb9779406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a8c005f62460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ec5bc27a243d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2d8dc86be43b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82b57409d441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af3955098f4a4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0448cdb697474c" /><Relationship Type="http://schemas.openxmlformats.org/officeDocument/2006/relationships/image" Target="/ppt/media/image2.png" Id="R614a15bc1a5c4585" /><Relationship Type="http://schemas.openxmlformats.org/officeDocument/2006/relationships/image" Target="/ppt/media/image3.png" Id="R02ec0bed156d457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1b0d794157498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715a8db53246c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b1ef8ebc8e42a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f4b995413d437a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e5b927fb3e4da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2c12ae40a841e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ffdea220f1489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e33601dce140f9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397FC1AC-25DC-46F0-96CC-2A652277F92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324E1F2-F052-4C24-A0AA-C0E726D224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B78FCD01-4E7D-43F9-96F1-64CE403A25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2556162A-2B5D-4C99-8C0F-5D188F69B3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B246473B-90B9-4D97-B99D-0299003E48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805BAA5F-9955-4159-B9ED-F192C7501E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0EEDE71D-EA1A-433C-BEAB-848884CF34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4F00358-3E15-49A1-A9FC-D1C243EADE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DA318160-EF8A-482E-A872-F6A79A3343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5DA7323-ED3E-45C2-AE33-3E6705DB41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61613E98-082F-42B8-B0DA-4DD212C9D8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679412A7-02B6-412E-AD7F-D71A82A732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54D3E247-556A-4BBA-AF5D-3CE7E3B1F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39473B15-935E-4D52-B991-A92CE0643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929D6711-0D70-4A1D-8BEC-E75136663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7DAD4E78-3171-4984-AAF2-742847487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9201E891-4299-48D8-96BB-BEB87D7E11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ACDA31A1-BA68-4F3B-BDF7-E0D863574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9031AB7A-B788-488D-9B15-B4FCBEC331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B2DB13A5-6E78-4691-B497-7A4528D7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5AA03E8B-6F12-4D64-A46E-282D78029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8BF9C787-EACE-4906-B76D-B6C4355C89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BFD0EE2D-E225-416B-853A-8DEBF7567F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5F908037-37F3-4000-A9C4-942F988F4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75152DF0-6E86-43E8-8EC9-55E54B1195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70086186-FE6E-4FE6-821B-FF093B8466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F87C8D79-AEBD-4C12-9C84-10B3B6C1B88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47F4E37F-311D-4823-B027-F3FF7EF9D3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5C4C66F7-7701-43BA-B626-EC3661C0F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A09839EE-9729-4144-BD45-EC93E189A8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6492E472-E765-4C14-BD4A-E132DF547CE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10208" y="744575"/>
            <a:ext cx="66222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/>
        </p:txBody>
      </p:sp>
      <p:sp>
        <p:nvSp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306B3743-21D0-4666-BD82-D5B78FDD5B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10202" y="2834125"/>
            <a:ext cx="66222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matchingName="Blank 1">
  <p:cSld name="BLANK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D02ACAC4-623F-4E66-BB2F-2E72A703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335"/>
            <a:ext cx="9144600" cy="514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9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0" name="Google Shape;64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4a15bc1a5c4585">
            <a:alphaModFix/>
          </a:blip>
          <a:srcRect xmlns:a="http://schemas.openxmlformats.org/drawingml/2006/main" l="42816" t="18359" r="37297" b="19152"/>
          <a:stretch xmlns:a="http://schemas.openxmlformats.org/drawingml/2006/main"/>
        </p:blipFill>
        <p:spPr>
          <a:xfrm xmlns:a="http://schemas.openxmlformats.org/drawingml/2006/main">
            <a:off x="6052536" y="514443"/>
            <a:ext cx="2095112" cy="3703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ABBA9FE9-D46A-4ABA-980B-805543E09E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129" y="6703219"/>
            <a:ext cx="15008700" cy="69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850" rIns="0" bIns="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E2147B1C-C98C-4443-9179-59FC233E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" y="1676232"/>
            <a:ext cx="43728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sz="3300" b="0" i="0" u="non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</a:rPr>
              <a:t>Happy Learning !</a:t>
            </a:r>
            <a:endParaRPr sz="3300" b="0" i="0" u="none" cap="none">
              <a:solidFill>
                <a:schemeClr val="lt1"/>
              </a:solidFill>
              <a:latin typeface="Nunito ExtraBold"/>
              <a:ea typeface="Nunito ExtraBold"/>
              <a:cs typeface="Nunito ExtraBold"/>
            </a:endParaRPr>
          </a:p>
        </p:txBody>
      </p:sp>
      <p:pic>
        <p:nvPicPr>
          <p:cNvPr id="73" name="Google Shape;67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ec0bed156d45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5874" y="683275"/>
            <a:ext cx="3757725" cy="825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6D472DCC-F4C6-40D9-9FB5-BAC94218E7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B27B9885-4518-4B44-90E0-855194298B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17">
            <a:extLst xmlns:a="http://schemas.openxmlformats.org/drawingml/2006/main">
              <a:ext uri="{FF2B5EF4-FFF2-40B4-BE49-F238E27FC236}">
                <a16:creationId xmlns:a16="http://schemas.microsoft.com/office/drawing/2014/main" id="{6FF87131-AD5B-4B16-AD48-0D6029816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7">
            <a:extLst xmlns:a="http://schemas.openxmlformats.org/drawingml/2006/main">
              <a:ext uri="{FF2B5EF4-FFF2-40B4-BE49-F238E27FC236}">
                <a16:creationId xmlns:a16="http://schemas.microsoft.com/office/drawing/2014/main" id="{117D7CE6-9F12-458D-9FA8-AD546A8285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</a:defRPr>
            </a:lvl1pPr>
            <a:lvl2pPr marL="914400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</a:defRPr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</a:defRPr>
            </a:lvl3pPr>
            <a:lvl4pPr marL="1828800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</a:defRPr>
            </a:lvl4pPr>
            <a:lvl5pPr marL="2286000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</a:defRPr>
            </a:lvl5pPr>
            <a:lvl6pPr marL="2743200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</a:defRPr>
            </a:lvl6pPr>
            <a:lvl7pPr marL="3200400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</a:defRPr>
            </a:lvl7pPr>
            <a:lvl8pPr marL="3657600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</a:defRPr>
            </a:lvl8pPr>
            <a:lvl9pPr marL="4114800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/>
        </p:txBody>
      </p:sp>
      <p:sp>
        <p:nvSpPr>
          <p:cNvPr id="74" name="Google Shape;74;p17">
            <a:extLst xmlns:a="http://schemas.openxmlformats.org/drawingml/2006/main">
              <a:ext uri="{FF2B5EF4-FFF2-40B4-BE49-F238E27FC236}">
                <a16:creationId xmlns:a16="http://schemas.microsoft.com/office/drawing/2014/main" id="{CADFB1A9-99C3-4CF3-AFC6-C328EC88F6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and Table">
  <p:cSld name="CUS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8">
            <a:extLst xmlns:a="http://schemas.openxmlformats.org/drawingml/2006/main">
              <a:ext uri="{FF2B5EF4-FFF2-40B4-BE49-F238E27FC236}">
                <a16:creationId xmlns:a16="http://schemas.microsoft.com/office/drawing/2014/main" id="{F96DFF44-42E6-4D7A-8B1C-87E6962441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graphicFrame>
        <p:nvGraphicFramePr>
          <p:cNvPr id="81" name="Google Shape;77;p18"/>
          <p:cNvGraphicFramePr/>
          <p:nvPr/>
        </p:nvGraphicFramePr>
        <p:xfrm>
          <a:off xmlns:a="http://schemas.openxmlformats.org/drawingml/2006/main" x="201942" y="83366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{7C2EA955-FAA9-4741-80A4-FAB2EC53E622}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cap="none">
                          <a:latin typeface="Nunito"/>
                          <a:ea typeface="Nunito"/>
                          <a:cs typeface="Nunito"/>
                        </a:rPr>
                        <a:t>Cluster</a:t>
                      </a:r>
                      <a:endParaRPr sz="14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cap="none">
                          <a:latin typeface="Nunito"/>
                          <a:ea typeface="Nunito"/>
                          <a:cs typeface="Nunito"/>
                        </a:rPr>
                        <a:t>Cluster Profile </a:t>
                      </a:r>
                      <a:endParaRPr sz="14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cap="none">
                          <a:latin typeface="Nunito"/>
                          <a:ea typeface="Nunito"/>
                          <a:cs typeface="Nunito"/>
                        </a:rPr>
                        <a:t>Business Insights for Marketing Team</a:t>
                      </a:r>
                      <a:endParaRPr sz="14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1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High value customers who have many credit cards and prefer to engage online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Engage Online – Set up priority calling in lines – Upsell and Cross sell premium products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2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…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..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3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…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…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78" name="Google Shape;78;p18">
            <a:extLst xmlns:a="http://schemas.openxmlformats.org/drawingml/2006/main">
              <a:ext uri="{FF2B5EF4-FFF2-40B4-BE49-F238E27FC236}">
                <a16:creationId xmlns:a16="http://schemas.microsoft.com/office/drawing/2014/main" id="{9700C45F-D80B-4D39-8D3A-D65B78A2E1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19">
            <a:extLst xmlns:a="http://schemas.openxmlformats.org/drawingml/2006/main">
              <a:ext uri="{FF2B5EF4-FFF2-40B4-BE49-F238E27FC236}">
                <a16:creationId xmlns:a16="http://schemas.microsoft.com/office/drawing/2014/main" id="{F8DAB412-7191-4CC2-A886-1988E8C24C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sp>
        <p:nvSpPr>
          <p:cNvPr id="81" name="Google Shape;81;p19">
            <a:extLst xmlns:a="http://schemas.openxmlformats.org/drawingml/2006/main">
              <a:ext uri="{FF2B5EF4-FFF2-40B4-BE49-F238E27FC236}">
                <a16:creationId xmlns:a16="http://schemas.microsoft.com/office/drawing/2014/main" id="{392B762B-0DDD-4CE6-9A3F-D56363C8B3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82" name="Google Shape;82;p19">
            <a:extLst xmlns:a="http://schemas.openxmlformats.org/drawingml/2006/main">
              <a:ext uri="{FF2B5EF4-FFF2-40B4-BE49-F238E27FC236}">
                <a16:creationId xmlns:a16="http://schemas.microsoft.com/office/drawing/2014/main" id="{F302A3A9-4B86-4209-9051-BD6ADF2A00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83" name="Google Shape;83;p19">
            <a:extLst xmlns:a="http://schemas.openxmlformats.org/drawingml/2006/main">
              <a:ext uri="{FF2B5EF4-FFF2-40B4-BE49-F238E27FC236}">
                <a16:creationId xmlns:a16="http://schemas.microsoft.com/office/drawing/2014/main" id="{B0D44E14-52C2-497E-A4CC-E5C16636EF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20">
            <a:extLst xmlns:a="http://schemas.openxmlformats.org/drawingml/2006/main">
              <a:ext uri="{FF2B5EF4-FFF2-40B4-BE49-F238E27FC236}">
                <a16:creationId xmlns:a16="http://schemas.microsoft.com/office/drawing/2014/main" id="{420F9CBA-B9C5-4DC6-9346-10116F7D8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sp>
        <p:nvSpPr>
          <p:cNvPr id="86" name="Google Shape;86;p20">
            <a:extLst xmlns:a="http://schemas.openxmlformats.org/drawingml/2006/main">
              <a:ext uri="{FF2B5EF4-FFF2-40B4-BE49-F238E27FC236}">
                <a16:creationId xmlns:a16="http://schemas.microsoft.com/office/drawing/2014/main" id="{ACE56D6B-8DF0-41EC-BEF1-F950CA6914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21">
            <a:extLst xmlns:a="http://schemas.openxmlformats.org/drawingml/2006/main">
              <a:ext uri="{FF2B5EF4-FFF2-40B4-BE49-F238E27FC236}">
                <a16:creationId xmlns:a16="http://schemas.microsoft.com/office/drawing/2014/main" id="{22B6F188-D60F-4ACC-9828-D5C6C110CA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89" name="Google Shape;89;p21">
            <a:extLst xmlns:a="http://schemas.openxmlformats.org/drawingml/2006/main">
              <a:ext uri="{FF2B5EF4-FFF2-40B4-BE49-F238E27FC236}">
                <a16:creationId xmlns:a16="http://schemas.microsoft.com/office/drawing/2014/main" id="{286B02B8-35F3-49DC-9F13-1F0996ECAE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22">
            <a:extLst xmlns:a="http://schemas.openxmlformats.org/drawingml/2006/main">
              <a:ext uri="{FF2B5EF4-FFF2-40B4-BE49-F238E27FC236}">
                <a16:creationId xmlns:a16="http://schemas.microsoft.com/office/drawing/2014/main" id="{7A57D00F-B420-45EA-ABAB-C3A11281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oogle Shape;92;p22">
            <a:extLst xmlns:a="http://schemas.openxmlformats.org/drawingml/2006/main">
              <a:ext uri="{FF2B5EF4-FFF2-40B4-BE49-F238E27FC236}">
                <a16:creationId xmlns:a16="http://schemas.microsoft.com/office/drawing/2014/main" id="{EB4901B9-8143-4742-A06A-A2C3EBB39B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93" name="Google Shape;93;p22">
            <a:extLst xmlns:a="http://schemas.openxmlformats.org/drawingml/2006/main">
              <a:ext uri="{FF2B5EF4-FFF2-40B4-BE49-F238E27FC236}">
                <a16:creationId xmlns:a16="http://schemas.microsoft.com/office/drawing/2014/main" id="{88C0A895-EACD-4D2D-9E46-2E20DF477C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94" name="Google Shape;94;p22">
            <a:extLst xmlns:a="http://schemas.openxmlformats.org/drawingml/2006/main">
              <a:ext uri="{FF2B5EF4-FFF2-40B4-BE49-F238E27FC236}">
                <a16:creationId xmlns:a16="http://schemas.microsoft.com/office/drawing/2014/main" id="{A83A6BF1-2C81-43CE-94D2-9A0DF27AC4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5" name="Google Shape;95;p22">
            <a:extLst xmlns:a="http://schemas.openxmlformats.org/drawingml/2006/main">
              <a:ext uri="{FF2B5EF4-FFF2-40B4-BE49-F238E27FC236}">
                <a16:creationId xmlns:a16="http://schemas.microsoft.com/office/drawing/2014/main" id="{8F68F702-5C68-4716-8298-DF76EF6C55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Google Shape;97;p23">
            <a:extLst xmlns:a="http://schemas.openxmlformats.org/drawingml/2006/main">
              <a:ext uri="{FF2B5EF4-FFF2-40B4-BE49-F238E27FC236}">
                <a16:creationId xmlns:a16="http://schemas.microsoft.com/office/drawing/2014/main" id="{C9F5BA81-3577-44FD-85DC-14A992427A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d23321c1b44ed4" /><Relationship Type="http://schemas.openxmlformats.org/officeDocument/2006/relationships/slideLayout" Target="/ppt/slideLayouts/slideLayout1.xml" Id="R7c30ecc19f7e4552" /><Relationship Type="http://schemas.openxmlformats.org/officeDocument/2006/relationships/slideLayout" Target="/ppt/slideLayouts/slideLayout2.xml" Id="Rb9ec7f5736174743" /><Relationship Type="http://schemas.openxmlformats.org/officeDocument/2006/relationships/slideLayout" Target="/ppt/slideLayouts/slideLayout3.xml" Id="R471b3e75f5284fd7" /><Relationship Type="http://schemas.openxmlformats.org/officeDocument/2006/relationships/slideLayout" Target="/ppt/slideLayouts/slideLayout4.xml" Id="R9c17c1d9e9fd4220" /><Relationship Type="http://schemas.openxmlformats.org/officeDocument/2006/relationships/slideLayout" Target="/ppt/slideLayouts/slideLayout5.xml" Id="R54877c42df3b4c14" /><Relationship Type="http://schemas.openxmlformats.org/officeDocument/2006/relationships/slideLayout" Target="/ppt/slideLayouts/slideLayout6.xml" Id="R9d79698e63204bc4" /><Relationship Type="http://schemas.openxmlformats.org/officeDocument/2006/relationships/slideLayout" Target="/ppt/slideLayouts/slideLayout7.xml" Id="R509c314a50044cc1" /><Relationship Type="http://schemas.openxmlformats.org/officeDocument/2006/relationships/slideLayout" Target="/ppt/slideLayouts/slideLayout8.xml" Id="R73b34277cd594d90" /><Relationship Type="http://schemas.openxmlformats.org/officeDocument/2006/relationships/slideLayout" Target="/ppt/slideLayouts/slideLayout9.xml" Id="R254c17f12f1f4a69" /><Relationship Type="http://schemas.openxmlformats.org/officeDocument/2006/relationships/slideLayout" Target="/ppt/slideLayouts/slideLayout10.xml" Id="R6a553ba110984d13" /><Relationship Type="http://schemas.openxmlformats.org/officeDocument/2006/relationships/slideLayout" Target="/ppt/slideLayouts/slideLayout11.xml" Id="R6556c9a6c13a433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6104df6d2df04118" /><Relationship Type="http://schemas.openxmlformats.org/officeDocument/2006/relationships/theme" Target="/ppt/slideMasters/theme/theme3.xml" Id="R294c710f78cc4241" /><Relationship Type="http://schemas.openxmlformats.org/officeDocument/2006/relationships/slideLayout" Target="/ppt/slideLayouts/slideLayout12.xml" Id="Rfaa93fda25894e86" /><Relationship Type="http://schemas.openxmlformats.org/officeDocument/2006/relationships/slideLayout" Target="/ppt/slideLayouts/slideLayout13.xml" Id="R011aacbe1acb4339" /><Relationship Type="http://schemas.openxmlformats.org/officeDocument/2006/relationships/slideLayout" Target="/ppt/slideLayouts/slideLayout14.xml" Id="R83a2b073718f439f" /><Relationship Type="http://schemas.openxmlformats.org/officeDocument/2006/relationships/slideLayout" Target="/ppt/slideLayouts/slideLayout15.xml" Id="Rc7365587132245b7" /><Relationship Type="http://schemas.openxmlformats.org/officeDocument/2006/relationships/slideLayout" Target="/ppt/slideLayouts/slideLayout16.xml" Id="R9524259f79e84c89" /><Relationship Type="http://schemas.openxmlformats.org/officeDocument/2006/relationships/slideLayout" Target="/ppt/slideLayouts/slideLayout17.xml" Id="R5657395136494c44" /><Relationship Type="http://schemas.openxmlformats.org/officeDocument/2006/relationships/slideLayout" Target="/ppt/slideLayouts/slideLayout18.xml" Id="R771df57266ab40c6" /><Relationship Type="http://schemas.openxmlformats.org/officeDocument/2006/relationships/slideLayout" Target="/ppt/slideLayouts/slideLayout19.xml" Id="Re5b8fb9f717d48f4" /><Relationship Type="http://schemas.openxmlformats.org/officeDocument/2006/relationships/slideLayout" Target="/ppt/slideLayouts/slideLayout20.xml" Id="R0716bc16011e482d" /><Relationship Type="http://schemas.openxmlformats.org/officeDocument/2006/relationships/slideLayout" Target="/ppt/slideLayouts/slideLayout21.xml" Id="Re0a886bd554749c6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2571C84E-3CE1-4452-B454-1BF4FAF66F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AA716357-4FEF-40C4-ACC1-87E53C004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F7CB17F9-ED88-41A3-B41E-2103675E24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30ecc19f7e4552"/>
    <p:sldLayoutId xmlns:r="http://schemas.openxmlformats.org/officeDocument/2006/relationships" id="2147483650" r:id="Rb9ec7f5736174743"/>
    <p:sldLayoutId xmlns:r="http://schemas.openxmlformats.org/officeDocument/2006/relationships" id="2147483651" r:id="R471b3e75f5284fd7"/>
    <p:sldLayoutId xmlns:r="http://schemas.openxmlformats.org/officeDocument/2006/relationships" id="2147483652" r:id="R9c17c1d9e9fd4220"/>
    <p:sldLayoutId xmlns:r="http://schemas.openxmlformats.org/officeDocument/2006/relationships" id="2147483653" r:id="R54877c42df3b4c14"/>
    <p:sldLayoutId xmlns:r="http://schemas.openxmlformats.org/officeDocument/2006/relationships" id="2147483654" r:id="R9d79698e63204bc4"/>
    <p:sldLayoutId xmlns:r="http://schemas.openxmlformats.org/officeDocument/2006/relationships" id="2147483655" r:id="R509c314a50044cc1"/>
    <p:sldLayoutId xmlns:r="http://schemas.openxmlformats.org/officeDocument/2006/relationships" id="2147483656" r:id="R73b34277cd594d90"/>
    <p:sldLayoutId xmlns:r="http://schemas.openxmlformats.org/officeDocument/2006/relationships" id="2147483657" r:id="R254c17f12f1f4a69"/>
    <p:sldLayoutId xmlns:r="http://schemas.openxmlformats.org/officeDocument/2006/relationships" id="2147483658" r:id="R6a553ba110984d13"/>
    <p:sldLayoutId xmlns:r="http://schemas.openxmlformats.org/officeDocument/2006/relationships" id="2147483659" r:id="R6556c9a6c13a433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C62DA1CD-A47A-4EFC-80E9-A160FC20A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5F0CF8A3-F91C-468B-B400-37DE445161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8610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1pPr>
            <a:lvl2pPr marL="914400" marR="0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2pPr>
            <a:lvl3pPr marL="1371600" marR="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3pPr>
            <a:lvl4pPr marL="1828800" marR="0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4pPr>
            <a:lvl5pPr marL="2286000" marR="0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5pPr>
            <a:lvl6pPr marL="2743200" marR="0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6pPr>
            <a:lvl7pPr marL="3200400" marR="0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7pPr>
            <a:lvl8pPr marL="3657600" marR="0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8pPr>
            <a:lvl9pPr marL="4114800" marR="0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A6310921-373C-4268-8EA9-CA0D978C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00" y="4917657"/>
            <a:ext cx="4675200" cy="27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marR="0" lvl="0" indent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rPr>
              <a:t>Proprietary content. © Great Learning. All Rights Reserved. Unauthorized use or distribution prohibited.</a:t>
            </a:r>
            <a:endParaRPr sz="700" b="1" i="0" u="none" cap="none">
              <a:solidFill>
                <a:srgbClr val="434343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87D92B6B-B4EC-4299-B33B-D2643C8DB3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4" name="Google Shape;55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04df6d2df041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69500" y="68264"/>
            <a:ext cx="1395476" cy="572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EAF79F2D-37B3-4EDA-B2E6-FFCE9EA0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3" y="10"/>
            <a:ext cx="175500" cy="35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9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5BC823C4-D532-43B7-94EB-56FA3FA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3" y="353731"/>
            <a:ext cx="175500" cy="35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D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aa93fda25894e86"/>
    <p:sldLayoutId xmlns:r="http://schemas.openxmlformats.org/officeDocument/2006/relationships" id="2147483662" r:id="R011aacbe1acb4339"/>
    <p:sldLayoutId xmlns:r="http://schemas.openxmlformats.org/officeDocument/2006/relationships" id="2147483663" r:id="R83a2b073718f439f"/>
    <p:sldLayoutId xmlns:r="http://schemas.openxmlformats.org/officeDocument/2006/relationships" id="2147483664" r:id="Rc7365587132245b7"/>
    <p:sldLayoutId xmlns:r="http://schemas.openxmlformats.org/officeDocument/2006/relationships" id="2147483665" r:id="R9524259f79e84c89"/>
    <p:sldLayoutId xmlns:r="http://schemas.openxmlformats.org/officeDocument/2006/relationships" id="2147483666" r:id="R5657395136494c44"/>
    <p:sldLayoutId xmlns:r="http://schemas.openxmlformats.org/officeDocument/2006/relationships" id="2147483667" r:id="R771df57266ab40c6"/>
    <p:sldLayoutId xmlns:r="http://schemas.openxmlformats.org/officeDocument/2006/relationships" id="2147483668" r:id="Re5b8fb9f717d48f4"/>
    <p:sldLayoutId xmlns:r="http://schemas.openxmlformats.org/officeDocument/2006/relationships" id="2147483669" r:id="R0716bc16011e482d"/>
    <p:sldLayoutId xmlns:r="http://schemas.openxmlformats.org/officeDocument/2006/relationships" id="2147483670" r:id="Re0a886bd554749c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96191b29e24eec" /><Relationship Type="http://schemas.openxmlformats.org/officeDocument/2006/relationships/notesSlide" Target="/ppt/notesSlides/notesSlide1.xml" Id="R90c86bf87edb4e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e22ca58c2394773" /><Relationship Type="http://schemas.openxmlformats.org/officeDocument/2006/relationships/notesSlide" Target="/ppt/notesSlides/notesSlide2.xml" Id="R2127cf5867284a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f3be7ab46134b63" /><Relationship Type="http://schemas.openxmlformats.org/officeDocument/2006/relationships/notesSlide" Target="/ppt/notesSlides/notesSlide3.xml" Id="R2c8cac7121d444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d75169deaa448b7" /><Relationship Type="http://schemas.openxmlformats.org/officeDocument/2006/relationships/notesSlide" Target="/ppt/notesSlides/notesSlide4.xml" Id="R5f942a5b208f41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d1beec3de14c56" /><Relationship Type="http://schemas.openxmlformats.org/officeDocument/2006/relationships/notesSlide" Target="/ppt/notesSlides/notesSlide5.xml" Id="Rd04f63aa548c4b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0a74bcf83f44b4e" /><Relationship Type="http://schemas.openxmlformats.org/officeDocument/2006/relationships/notesSlide" Target="/ppt/notesSlides/notesSlide6.xml" Id="Rb6dc2c2ae52c4b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b379b65d0e47d8" /><Relationship Type="http://schemas.openxmlformats.org/officeDocument/2006/relationships/notesSlide" Target="/ppt/notesSlides/notesSlide7.xml" Id="R8da0787f4ecf43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fa3805297ec49d0" /><Relationship Type="http://schemas.openxmlformats.org/officeDocument/2006/relationships/notesSlide" Target="/ppt/notesSlides/notesSlide8.xml" Id="R5b5c629fdb7344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1f7690c742c4081" /><Relationship Type="http://schemas.openxmlformats.org/officeDocument/2006/relationships/notesSlide" Target="/ppt/notesSlides/notesSlide9.xml" Id="Ref8b552fd9b04b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639ac0b418a4724" /><Relationship Type="http://schemas.openxmlformats.org/officeDocument/2006/relationships/notesSlide" Target="/ppt/notesSlides/notesSlide10.xml" Id="Rf25c00adc3d741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7de0e2e568643be" /><Relationship Type="http://schemas.openxmlformats.org/officeDocument/2006/relationships/notesSlide" Target="/ppt/notesSlides/notesSlide11.xml" Id="R0f456d60697c41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3ee04d28fc473f" /><Relationship Type="http://schemas.openxmlformats.org/officeDocument/2006/relationships/notesSlide" Target="/ppt/notesSlides/notesSlide12.xml" Id="R8547e5db7b9e40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3d5e10de88446e0" /><Relationship Type="http://schemas.openxmlformats.org/officeDocument/2006/relationships/image" Target="/ppt/media/image4.png" Id="R6def94acd89244ff" /><Relationship Type="http://schemas.openxmlformats.org/officeDocument/2006/relationships/notesSlide" Target="/ppt/notesSlides/notesSlide13.xml" Id="Raddf8ccbe6134c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1be286bc4da405e" /><Relationship Type="http://schemas.openxmlformats.org/officeDocument/2006/relationships/notesSlide" Target="/ppt/notesSlides/notesSlide14.xml" Id="Rcd83c27ea92743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b1a5d71e58e4948" /><Relationship Type="http://schemas.openxmlformats.org/officeDocument/2006/relationships/notesSlide" Target="/ppt/notesSlides/notesSlide15.xml" Id="Rb057bd45122b48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0747eea86a4a5b" /><Relationship Type="http://schemas.openxmlformats.org/officeDocument/2006/relationships/notesSlide" Target="/ppt/notesSlides/notesSlide16.xml" Id="Rb932c1856c0b41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6ccd239554fae" /><Relationship Type="http://schemas.openxmlformats.org/officeDocument/2006/relationships/image" Target="/ppt/media/image5.png" Id="R79e41c5415d34407" /><Relationship Type="http://schemas.openxmlformats.org/officeDocument/2006/relationships/notesSlide" Target="/ppt/notesSlides/notesSlide17.xml" Id="R9a6d6570a2524e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af4626acd4c83" /><Relationship Type="http://schemas.openxmlformats.org/officeDocument/2006/relationships/image" Target="/ppt/media/image6.png" Id="Rc736e4b6c8684dda" /><Relationship Type="http://schemas.openxmlformats.org/officeDocument/2006/relationships/notesSlide" Target="/ppt/notesSlides/notesSlide18.xml" Id="Ref5c4161de6f44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a58a0c1a04bd8" /><Relationship Type="http://schemas.openxmlformats.org/officeDocument/2006/relationships/image" Target="/ppt/media/image7.png" Id="Rf4dfd330f670485b" /><Relationship Type="http://schemas.openxmlformats.org/officeDocument/2006/relationships/notesSlide" Target="/ppt/notesSlides/notesSlide19.xml" Id="R6c078e94f8164a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be07c0c4c4900" /><Relationship Type="http://schemas.openxmlformats.org/officeDocument/2006/relationships/image" Target="/ppt/media/image8.png" Id="Re7bcb8ef2fc54972" /><Relationship Type="http://schemas.openxmlformats.org/officeDocument/2006/relationships/notesSlide" Target="/ppt/notesSlides/notesSlide20.xml" Id="Rc34bc77498094d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0df4b5fc64790" /><Relationship Type="http://schemas.openxmlformats.org/officeDocument/2006/relationships/image" Target="/ppt/media/image9.png" Id="R21f4bbf750d24f0f" /><Relationship Type="http://schemas.openxmlformats.org/officeDocument/2006/relationships/notesSlide" Target="/ppt/notesSlides/notesSlide21.xml" Id="Rbf0a31ac7e214f6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d0ffd85534264" /><Relationship Type="http://schemas.openxmlformats.org/officeDocument/2006/relationships/image" Target="/ppt/media/image10.png" Id="Rba3380831c854ee0" /><Relationship Type="http://schemas.openxmlformats.org/officeDocument/2006/relationships/notesSlide" Target="/ppt/notesSlides/notesSlide22.xml" Id="R949c430c80b74a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24">
            <a:extLst xmlns:a="http://schemas.openxmlformats.org/drawingml/2006/main">
              <a:ext uri="{FF2B5EF4-FFF2-40B4-BE49-F238E27FC236}">
                <a16:creationId xmlns:a16="http://schemas.microsoft.com/office/drawing/2014/main" id="{97EB7C73-D77C-4A60-B696-F7A744F9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0" y="1412050"/>
            <a:ext cx="6827700" cy="58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1">
                <a:solidFill>
                  <a:srgbClr val="0B4FB3"/>
                </a:solidFill>
              </a:defRPr>
            </a:pPr>
            <a:r>
              <a:rPr sz="2400" b="1">
                <a:solidFill>
                  <a:srgbClr val="0B4FB3"/>
                </a:solidFill>
                <a:latin typeface="Nunito"/>
                <a:ea typeface="Nunito"/>
                <a:cs typeface="Nunito"/>
              </a:rPr>
              <a:t>MLOps Pipeline for Tourism Package Prediction</a:t>
            </a:r>
            <a:endParaRPr sz="3600" b="1">
              <a:solidFill>
                <a:srgbClr val="0E39A9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03" name="Google Shape;103;p24">
            <a:extLst xmlns:a="http://schemas.openxmlformats.org/drawingml/2006/main">
              <a:ext uri="{FF2B5EF4-FFF2-40B4-BE49-F238E27FC236}">
                <a16:creationId xmlns:a16="http://schemas.microsoft.com/office/drawing/2014/main" id="{1B5B9616-532C-440A-ACBA-D815BE17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0" y="2038575"/>
            <a:ext cx="6827700" cy="49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725">
                <a:solidFill>
                  <a:srgbClr val="1B5FDB"/>
                </a:solidFill>
              </a:defRPr>
            </a:pPr>
            <a:r>
              <a:rPr sz="1725">
                <a:solidFill>
                  <a:srgbClr val="1B5FDB"/>
                </a:solidFill>
                <a:latin typeface="Nunito"/>
                <a:ea typeface="Nunito"/>
                <a:cs typeface="Nunito"/>
              </a:rPr>
              <a:t>Done by Mazin Alahmadi</a:t>
            </a:r>
            <a:endParaRPr sz="3000">
              <a:solidFill>
                <a:srgbClr val="0E39A9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04" name="Google Shape;104;p24">
            <a:extLst xmlns:a="http://schemas.openxmlformats.org/drawingml/2006/main">
              <a:ext uri="{FF2B5EF4-FFF2-40B4-BE49-F238E27FC236}">
                <a16:creationId xmlns:a16="http://schemas.microsoft.com/office/drawing/2014/main" id="{94C7792B-13A7-43A1-A8F5-31E1E36F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0" y="2441950"/>
            <a:ext cx="6827700" cy="49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050">
                <a:solidFill>
                  <a:srgbClr val="1B5FDB"/>
                </a:solidFill>
              </a:defRPr>
            </a:pPr>
            <a:r>
              <a:rPr sz="1050" b="0" i="0" u="none" cap="none">
                <a:solidFill>
                  <a:srgbClr val="1B5FDB"/>
                </a:solidFill>
                <a:latin typeface="Nunito"/>
                <a:ea typeface="Nunito"/>
                <a:cs typeface="Nunito"/>
              </a:rPr>
              <a:t>August 29, 2026</a:t>
            </a:r>
            <a:endParaRPr sz="1600" b="0" i="0" u="none" cap="none">
              <a:solidFill>
                <a:srgbClr val="0E39A9"/>
              </a:solidFill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1882262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25">
            <a:extLst xmlns:a="http://schemas.openxmlformats.org/drawingml/2006/main">
              <a:ext uri="{FF2B5EF4-FFF2-40B4-BE49-F238E27FC236}">
                <a16:creationId xmlns:a16="http://schemas.microsoft.com/office/drawing/2014/main" id="{FC55846E-11FC-4248-91C4-2C4F9201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Contents / Agenda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0" name="Google Shape;110;p25">
            <a:extLst xmlns:a="http://schemas.openxmlformats.org/drawingml/2006/main">
              <a:ext uri="{FF2B5EF4-FFF2-40B4-BE49-F238E27FC236}">
                <a16:creationId xmlns:a16="http://schemas.microsoft.com/office/drawing/2014/main" id="{CAB1838B-EA46-456A-B6AF-6E54CBC1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Executive summary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Business overview and solution approach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Data registration and preparation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Customer insights from tourism data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Model building, tracking, and performance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Deployment and automated GitHub workflow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Output evidence, recommendations, and appendix</a:t>
            </a:r>
          </a:p>
        </p:txBody>
      </p:sp>
    </p:spTree>
    <p:extLst>
      <p:ext uri="{BB962C8B-B14F-4D97-AF65-F5344CB8AC3E}">
        <p14:creationId xmlns:p14="http://schemas.microsoft.com/office/powerpoint/2010/main" val="9183048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p26">
            <a:extLst xmlns:a="http://schemas.openxmlformats.org/drawingml/2006/main">
              <a:ext uri="{FF2B5EF4-FFF2-40B4-BE49-F238E27FC236}">
                <a16:creationId xmlns:a16="http://schemas.microsoft.com/office/drawing/2014/main" id="{208F9FBF-07C4-4C33-B456-4799B8D5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Executive Summary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6" name="Google Shape;116;p26">
            <a:extLst xmlns:a="http://schemas.openxmlformats.org/drawingml/2006/main">
              <a:ext uri="{FF2B5EF4-FFF2-40B4-BE49-F238E27FC236}">
                <a16:creationId xmlns:a16="http://schemas.microsoft.com/office/drawing/2014/main" id="{CEDDC716-271F-488E-891D-8F7B4C41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The tourism campaign has a 19.3% package-purchase rate, so better targeting can materially improve sales productivity.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A completed MLOps pipeline now registers data, cleans and splits it, trains a tuned XGBoost model, and publishes a Hugging Face prediction app.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The best local model achieved 91.3% test accuracy, 76.4% precision, 79.4% recall, and 77.8% F1 at the selected threshold.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Business recommendation: prioritize high-probability customers first, then monitor conversion lift through the automated workflow.</a:t>
            </a:r>
          </a:p>
        </p:txBody>
      </p:sp>
    </p:spTree>
    <p:extLst>
      <p:ext uri="{BB962C8B-B14F-4D97-AF65-F5344CB8AC3E}">
        <p14:creationId xmlns:p14="http://schemas.microsoft.com/office/powerpoint/2010/main" val="9980850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27">
            <a:extLst xmlns:a="http://schemas.openxmlformats.org/drawingml/2006/main">
              <a:ext uri="{FF2B5EF4-FFF2-40B4-BE49-F238E27FC236}">
                <a16:creationId xmlns:a16="http://schemas.microsoft.com/office/drawing/2014/main" id="{D665F1D5-8035-47A4-8CB2-8A61B6D9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Business Overview and Solution Approach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2" name="Google Shape;122;p27">
            <a:extLst xmlns:a="http://schemas.openxmlformats.org/drawingml/2006/main">
              <a:ext uri="{FF2B5EF4-FFF2-40B4-BE49-F238E27FC236}">
                <a16:creationId xmlns:a16="http://schemas.microsoft.com/office/drawing/2014/main" id="{C3E8B9C3-642A-47DA-A78E-D9858CB2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Business problem: sales teams need to focus outreach on customers most likely to purchase a tourism package.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Decision lens: rank prospects before calling so high-fit customers receive faster and better-timed follow-up.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Solution: convert customer attributes into a purchase-probability score using a reproducible, deployment-ready ML workflow.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Operating model: GitHub controls source code, Hugging Face stores data/model/app assets, and GitHub Actions runs the pipeline end to end.</a:t>
            </a:r>
          </a:p>
        </p:txBody>
      </p:sp>
    </p:spTree>
    <p:extLst>
      <p:ext uri="{BB962C8B-B14F-4D97-AF65-F5344CB8AC3E}">
        <p14:creationId xmlns:p14="http://schemas.microsoft.com/office/powerpoint/2010/main" val="17445270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27">
            <a:extLst xmlns:a="http://schemas.openxmlformats.org/drawingml/2006/main">
              <a:ext uri="{FF2B5EF4-FFF2-40B4-BE49-F238E27FC236}">
                <a16:creationId xmlns:a16="http://schemas.microsoft.com/office/drawing/2014/main" id="{D665F1D5-8035-47A4-8CB2-8A61B6D9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Data Registration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2" name="Google Shape;122;p27">
            <a:extLst xmlns:a="http://schemas.openxmlformats.org/drawingml/2006/main">
              <a:ext uri="{FF2B5EF4-FFF2-40B4-BE49-F238E27FC236}">
                <a16:creationId xmlns:a16="http://schemas.microsoft.com/office/drawing/2014/main" id="{C3E8B9C3-642A-47DA-A78E-D9858CB2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Master project folder: tourism_project with data, model_building, deployment, hosting, reports, and models subfolders.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Raw data asset: tourism_project/data/tourism.csv, documented with a dataset README for governance.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Hugging Face dataset target: mazin903/tourism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Registration script creates or reuses the dataset repo and uploads the raw dataset files.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Benefit: the workflow has a single governed data source instead of manual file movement.</a:t>
            </a:r>
          </a:p>
        </p:txBody>
      </p:sp>
    </p:spTree>
    <p:extLst>
      <p:ext uri="{BB962C8B-B14F-4D97-AF65-F5344CB8AC3E}">
        <p14:creationId xmlns:p14="http://schemas.microsoft.com/office/powerpoint/2010/main" val="17445270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Google Shape;127;p28">
            <a:extLst xmlns:a="http://schemas.openxmlformats.org/drawingml/2006/main">
              <a:ext uri="{FF2B5EF4-FFF2-40B4-BE49-F238E27FC236}">
                <a16:creationId xmlns:a16="http://schemas.microsoft.com/office/drawing/2014/main" id="{D5FE696A-B516-444C-9CE3-9817F219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Data Preparation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8" name="Google Shape;128;p28">
            <a:extLst xmlns:a="http://schemas.openxmlformats.org/drawingml/2006/main">
              <a:ext uri="{FF2B5EF4-FFF2-40B4-BE49-F238E27FC236}">
                <a16:creationId xmlns:a16="http://schemas.microsoft.com/office/drawing/2014/main" id="{F849ED0A-942B-4F50-8CC7-CC1E9E99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Loaded the tourism dataset from Hugging Face when credentials are available, with local fallback for development.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Removed generated index/customer ID fields, removed duplicates, and standardized inconsistent categorical values.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Imputed missing numeric values with medians and categorical values with modes.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Created a stratified 80/20 split: 3,208 training rows and 803 testing rows.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Saved cleaned, train, and test files locally and prepared automatic upload back to the dataset repo.</a:t>
            </a:r>
          </a:p>
        </p:txBody>
      </p:sp>
    </p:spTree>
    <p:extLst>
      <p:ext uri="{BB962C8B-B14F-4D97-AF65-F5344CB8AC3E}">
        <p14:creationId xmlns:p14="http://schemas.microsoft.com/office/powerpoint/2010/main" val="11378627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Google Shape;127;p28">
            <a:extLst xmlns:a="http://schemas.openxmlformats.org/drawingml/2006/main">
              <a:ext uri="{FF2B5EF4-FFF2-40B4-BE49-F238E27FC236}">
                <a16:creationId xmlns:a16="http://schemas.microsoft.com/office/drawing/2014/main" id="{D5FE696A-B516-444C-9CE3-9817F219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Customer Insights That Drive Targeting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8" name="Google Shape;128;p28">
            <a:extLst xmlns:a="http://schemas.openxmlformats.org/drawingml/2006/main">
              <a:ext uri="{FF2B5EF4-FFF2-40B4-BE49-F238E27FC236}">
                <a16:creationId xmlns:a16="http://schemas.microsoft.com/office/drawing/2014/main" id="{F849ED0A-942B-4F50-8CC7-CC1E9E99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Base purchase rate: 19.3%, confirming the need for selective campaign prioritization.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Passport holders convert at 35.9% versus 12.4% for non-passport customers.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Basic package prospects convert at 30.1%, the strongest product segment in the dataset.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Single customers convert at 30.9%, more than double married and divorced segments.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Recommendation: combine model scores with these high-conversion segments for call-list prioritization.</a:t>
            </a:r>
          </a:p>
        </p:txBody>
      </p:sp>
    </p:spTree>
    <p:extLst>
      <p:ext uri="{BB962C8B-B14F-4D97-AF65-F5344CB8AC3E}">
        <p14:creationId xmlns:p14="http://schemas.microsoft.com/office/powerpoint/2010/main" val="11378627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29">
            <a:extLst xmlns:a="http://schemas.openxmlformats.org/drawingml/2006/main">
              <a:ext uri="{FF2B5EF4-FFF2-40B4-BE49-F238E27FC236}">
                <a16:creationId xmlns:a16="http://schemas.microsoft.com/office/drawing/2014/main" id="{A64EE7C2-5160-4A69-9F17-82DBBDB2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Model Building with Experimentation Tracking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35" name="Google Shape;135;p29">
            <a:extLst xmlns:a="http://schemas.openxmlformats.org/drawingml/2006/main">
              <a:ext uri="{FF2B5EF4-FFF2-40B4-BE49-F238E27FC236}">
                <a16:creationId xmlns:a16="http://schemas.microsoft.com/office/drawing/2014/main" id="{E0955BDD-47C7-459D-B7F7-C2237E57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Model choice: XGBoost classifier with preprocessing for numeric and categorical fields.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Class imbalance handled with scale_pos_weight so minority buyers are not ignored.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Grid search evaluated 48 parameter/run combinations using F1 as the selection metric.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MLflow logs parameters, metrics, artifacts, model path, and threshold analysis for comparison.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Best model is packaged for Hugging Face Model Hub target: mazin903/tourism-package-model</a:t>
            </a:r>
          </a:p>
        </p:txBody>
      </p:sp>
    </p:spTree>
    <p:extLst>
      <p:ext uri="{BB962C8B-B14F-4D97-AF65-F5344CB8AC3E}">
        <p14:creationId xmlns:p14="http://schemas.microsoft.com/office/powerpoint/2010/main" val="19179137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35">
            <a:extLst xmlns:a="http://schemas.openxmlformats.org/drawingml/2006/main">
              <a:ext uri="{FF2B5EF4-FFF2-40B4-BE49-F238E27FC236}">
                <a16:creationId xmlns:a16="http://schemas.microsoft.com/office/drawing/2014/main" id="{1080B06C-BED5-4433-A1CB-4EB6C88D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</a:rPr>
              <a:t>Model Performance and Decision Threshold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71" name="Google Shape;171;p35">
            <a:extLst xmlns:a="http://schemas.openxmlformats.org/drawingml/2006/main">
              <a:ext uri="{FF2B5EF4-FFF2-40B4-BE49-F238E27FC236}">
                <a16:creationId xmlns:a16="http://schemas.microsoft.com/office/drawing/2014/main" id="{8DCDD439-2AD8-4E17-8144-5896794F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Selected threshold: 0.50, chosen for the best local F1 with a balanced precision/recall tradeoff.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Test performance: 91.3% accuracy, 76.4% precision, 79.4% recall, 77.8% F1.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Business meaning: most predicted buyers are actionable, while recall still captures nearly four out of five actual buyers.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Top signals: Passport, Basic package, Single marital status, Executive designation, and CityTier.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Operational use: score prospects, prioritize top-probability leads, and monitor uplift after deployment.</a:t>
            </a:r>
          </a:p>
        </p:txBody>
      </p:sp>
    </p:spTree>
    <p:extLst>
      <p:ext uri="{BB962C8B-B14F-4D97-AF65-F5344CB8AC3E}">
        <p14:creationId xmlns:p14="http://schemas.microsoft.com/office/powerpoint/2010/main" val="2613369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Google Shape;141;p30">
            <a:extLst xmlns:a="http://schemas.openxmlformats.org/drawingml/2006/main">
              <a:ext uri="{FF2B5EF4-FFF2-40B4-BE49-F238E27FC236}">
                <a16:creationId xmlns:a16="http://schemas.microsoft.com/office/drawing/2014/main" id="{200045EF-1ACA-4A4E-B4D4-1C736E25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</a:rPr>
              <a:t>Model Deployment</a:t>
            </a:r>
            <a:endParaRPr sz="2200" b="1" i="0" u="none" cap="non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</a:endParaRPr>
          </a:p>
        </p:txBody>
      </p:sp>
      <p:sp>
        <p:nvSpPr>
          <p:cNvPr id="142" name="Google Shape;142;p30">
            <a:extLst xmlns:a="http://schemas.openxmlformats.org/drawingml/2006/main">
              <a:ext uri="{FF2B5EF4-FFF2-40B4-BE49-F238E27FC236}">
                <a16:creationId xmlns:a16="http://schemas.microsoft.com/office/drawing/2014/main" id="{6BFE5440-F81C-4808-AC7D-52985153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Deployment surface: Streamlit Community Cloud app, with Hugging Face hosting script and Space files retained for portability.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The app loads the registered model artifact from Hugging Face Model Hub.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User inputs are converted into the same feature schema used during model training.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Output: purchase probability, decision threshold, and a business-friendly follow-up recommendation.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Accepted deployment path: Streamlit app launched directly from the GitHub repository.</a:t>
            </a:r>
          </a:p>
        </p:txBody>
      </p:sp>
    </p:spTree>
    <p:extLst>
      <p:ext uri="{BB962C8B-B14F-4D97-AF65-F5344CB8AC3E}">
        <p14:creationId xmlns:p14="http://schemas.microsoft.com/office/powerpoint/2010/main" val="16262143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Google Shape;147;p31">
            <a:extLst xmlns:a="http://schemas.openxmlformats.org/drawingml/2006/main">
              <a:ext uri="{FF2B5EF4-FFF2-40B4-BE49-F238E27FC236}">
                <a16:creationId xmlns:a16="http://schemas.microsoft.com/office/drawing/2014/main" id="{9A434EDF-9A69-423D-BB77-5862576C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298554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</a:rPr>
              <a:t>Automated GitHub Actions Workflow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48" name="Google Shape;148;p31">
            <a:extLst xmlns:a="http://schemas.openxmlformats.org/drawingml/2006/main">
              <a:ext uri="{FF2B5EF4-FFF2-40B4-BE49-F238E27FC236}">
                <a16:creationId xmlns:a16="http://schemas.microsoft.com/office/drawing/2014/main" id="{27436AE2-818D-4267-9901-14B08BD4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50" y="10143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Trigger: push to main or manual workflow dispatch.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Pipeline steps: install dependencies, register dataset, clean/split data, generate analysis, train/register model, and deploy app.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Secrets and variables separate credentials from source code: HF_TOKEN, HF_USERNAME, dataset repo, model repo, and Space repo.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Generated processed data and reports are committed back to main with skip-ci protection.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Benefit: one repeatable workflow replaces manual notebook-only execution.</a:t>
            </a:r>
          </a:p>
        </p:txBody>
      </p:sp>
    </p:spTree>
    <p:extLst>
      <p:ext uri="{BB962C8B-B14F-4D97-AF65-F5344CB8AC3E}">
        <p14:creationId xmlns:p14="http://schemas.microsoft.com/office/powerpoint/2010/main" val="692806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32">
            <a:extLst xmlns:a="http://schemas.openxmlformats.org/drawingml/2006/main">
              <a:ext uri="{FF2B5EF4-FFF2-40B4-BE49-F238E27FC236}">
                <a16:creationId xmlns:a16="http://schemas.microsoft.com/office/drawing/2014/main" id="{D9C90942-4E94-4A01-9C1B-892F24EF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</a:rPr>
              <a:t>Output Evaluation Evidence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54" name="Google Shape;154;p32">
            <a:extLst xmlns:a="http://schemas.openxmlformats.org/drawingml/2006/main">
              <a:ext uri="{FF2B5EF4-FFF2-40B4-BE49-F238E27FC236}">
                <a16:creationId xmlns:a16="http://schemas.microsoft.com/office/drawing/2014/main" id="{30C29CA2-B20F-4D4B-B3DE-AD88B321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GitHub repository: https://github.com/mazin903/MLOps-pipeline-on-GitHub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Hugging Face dataset: https://huggingface.co/datasets/mazin903/tourism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Hugging Face model: https://huggingface.co/mazin903/tourism-package-model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Streamlit app deployment: Streamlit Community Cloud, using the GitHub repository and Hugging Face model.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Hugging Face prediction app backup: https://huggingface.co/spaces/mazin903/tourism-package-prediction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Screenshots to capture after first account run: repo folder structure, green GitHub Actions workflow, Hugging Face dataset/model pages, and prediction app result.</a:t>
            </a:r>
          </a:p>
        </p:txBody>
      </p:sp>
    </p:spTree>
    <p:extLst>
      <p:ext uri="{BB962C8B-B14F-4D97-AF65-F5344CB8AC3E}">
        <p14:creationId xmlns:p14="http://schemas.microsoft.com/office/powerpoint/2010/main" val="14972674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159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ef94acd89244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2692825"/>
            <a:ext cx="8893198" cy="850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4440965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34">
            <a:extLst xmlns:a="http://schemas.openxmlformats.org/drawingml/2006/main">
              <a:ext uri="{FF2B5EF4-FFF2-40B4-BE49-F238E27FC236}">
                <a16:creationId xmlns:a16="http://schemas.microsoft.com/office/drawing/2014/main" id="{DE1ABB6C-4568-40B7-BF66-DB8B58BA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</a:rPr>
              <a:t>Dataset Overview and Registration Details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65" name="Google Shape;165;p34">
            <a:extLst xmlns:a="http://schemas.openxmlformats.org/drawingml/2006/main">
              <a:ext uri="{FF2B5EF4-FFF2-40B4-BE49-F238E27FC236}">
                <a16:creationId xmlns:a16="http://schemas.microsoft.com/office/drawing/2014/main" id="{05D41B69-831C-456E-B430-C4FC9D0A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Source file: tourism.csv with customer demographics, interaction history, product pitch attributes, and purchase outcome.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Target variable: ProdTaken, where 1 means the customer purchased the package and 0 means they did not.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Model features include age, income, city tier, follow-ups, satisfaction, passport, car ownership, occupation, package pitched, and designation.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Processed outputs: cleaned_tourism.csv, Xtrain.csv, Xtest.csv, ytrain.csv, and ytest.csv.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Registration plan: raw and processed files are uploaded to the Hugging Face dataset repo for reproducible downstream steps.</a:t>
            </a:r>
          </a:p>
        </p:txBody>
      </p:sp>
    </p:spTree>
    <p:extLst>
      <p:ext uri="{BB962C8B-B14F-4D97-AF65-F5344CB8AC3E}">
        <p14:creationId xmlns:p14="http://schemas.microsoft.com/office/powerpoint/2010/main" val="1896179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35">
            <a:extLst xmlns:a="http://schemas.openxmlformats.org/drawingml/2006/main">
              <a:ext uri="{FF2B5EF4-FFF2-40B4-BE49-F238E27FC236}">
                <a16:creationId xmlns:a16="http://schemas.microsoft.com/office/drawing/2014/main" id="{1080B06C-BED5-4433-A1CB-4EB6C88D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</a:rPr>
              <a:t>Experimentation Tracking Details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71" name="Google Shape;171;p35">
            <a:extLst xmlns:a="http://schemas.openxmlformats.org/drawingml/2006/main">
              <a:ext uri="{FF2B5EF4-FFF2-40B4-BE49-F238E27FC236}">
                <a16:creationId xmlns:a16="http://schemas.microsoft.com/office/drawing/2014/main" id="{8DCDD439-2AD8-4E17-8144-5896794F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Algorithm: XGBoost classifier selected from the assignment-approved model family.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Tuning grid: n_estimators 100/200, max_depth 3/5, learning_rate 0.05/0.10, reg_lambda 1.0/5.0, colsample values 0.8.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Best parameters: n_estimators 200, max_depth 5, learning_rate 0.10, reg_lambda 1.0.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Tracked artifacts: metrics, classification report, threshold analysis, feature importance, and joblib model bundle.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Model Hub registration stores the trained model and model card for deployment reuse.</a:t>
            </a:r>
          </a:p>
        </p:txBody>
      </p:sp>
    </p:spTree>
    <p:extLst>
      <p:ext uri="{BB962C8B-B14F-4D97-AF65-F5344CB8AC3E}">
        <p14:creationId xmlns:p14="http://schemas.microsoft.com/office/powerpoint/2010/main" val="2613369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36">
            <a:extLst xmlns:a="http://schemas.openxmlformats.org/drawingml/2006/main">
              <a:ext uri="{FF2B5EF4-FFF2-40B4-BE49-F238E27FC236}">
                <a16:creationId xmlns:a16="http://schemas.microsoft.com/office/drawing/2014/main" id="{FA5B8316-8084-4E62-956A-B9CBEC9B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GitHub Actions Workflow Details</a:t>
            </a:r>
            <a:endParaRPr sz="2200" b="1" i="0" u="none" cap="none">
              <a:solidFill>
                <a:schemeClr val="dk1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77" name="Google Shape;177;p36">
            <a:extLst xmlns:a="http://schemas.openxmlformats.org/drawingml/2006/main">
              <a:ext uri="{FF2B5EF4-FFF2-40B4-BE49-F238E27FC236}">
                <a16:creationId xmlns:a16="http://schemas.microsoft.com/office/drawing/2014/main" id="{B91A998A-827F-4F0D-9099-8714A461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Repository-ready workflow: .github/workflows/pipeline.yml.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Step 1: install Python dependencies and validate the project environment.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Step 2: register raw data, prepare train/test assets, and generate business summary tables.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Step 3: train the model, log results, and upload the best bundle to Hugging Face Model Hub.</a:t>
            </a:r>
          </a:p>
          <a:p xmlns:a="http://schemas.openxmlformats.org/drawingml/2006/main">
            <a:pPr>
              <a:spcAft>
                <a:spcPts val="8"/>
              </a:spcAft>
              <a:buNone/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Step 4: push deployment files to Hugging Face Spaces and commit generated reports back to main.</a:t>
            </a:r>
          </a:p>
        </p:txBody>
      </p:sp>
    </p:spTree>
    <p:extLst>
      <p:ext uri="{BB962C8B-B14F-4D97-AF65-F5344CB8AC3E}">
        <p14:creationId xmlns:p14="http://schemas.microsoft.com/office/powerpoint/2010/main" val="19307000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BD3BE-92E8-40A2-B920-EB494CC9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F"/>
                </a:solidFill>
              </a:defRPr>
            </a:pPr>
            <a:r>
              <a:rPr sz="1875" b="1">
                <a:solidFill>
                  <a:srgbClr val="18212F"/>
                </a:solidFill>
              </a:rPr>
              <a:t>Evidence: GitHub Repository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E0E4A-376A-4044-9413-1DB97D6C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  <a:r>
              <a:rPr sz="825">
                <a:solidFill>
                  <a:srgbClr val="4B5563"/>
                </a:solidFill>
              </a:rPr>
              <a:t>Repository structure and project files: github.com/mazin903/MLOps-pipeline-on-GitHub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E9C2B-5B9D-4BF9-B636-9348E324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3439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41c5415d34407"/>
          <a:stretch xmlns:a="http://schemas.openxmlformats.org/drawingml/2006/main"/>
        </p:blipFill>
        <p:spPr>
          <a:xfrm xmlns:a="http://schemas.openxmlformats.org/drawingml/2006/main">
            <a:off x="1938528" y="1104900"/>
            <a:ext cx="5266944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30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AD8D4-8679-473E-A192-A821223C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F"/>
                </a:solidFill>
              </a:defRPr>
            </a:pPr>
            <a:r>
              <a:rPr sz="1875" b="1">
                <a:solidFill>
                  <a:srgbClr val="18212F"/>
                </a:solidFill>
              </a:rPr>
              <a:t>Evidence: GitHub Actions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2B678-46B5-4050-BC18-FA218EF0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  <a:r>
              <a:rPr sz="825">
                <a:solidFill>
                  <a:srgbClr val="4B5563"/>
                </a:solidFill>
              </a:rPr>
              <a:t>Latest pipeline run #9 on commit 160aeda completed successfully on August 29, 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09B3D-F677-43FB-AEC0-BD9C8FE5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3439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6e4b6c8684dda"/>
          <a:stretch xmlns:a="http://schemas.openxmlformats.org/drawingml/2006/main"/>
        </p:blipFill>
        <p:spPr>
          <a:xfrm xmlns:a="http://schemas.openxmlformats.org/drawingml/2006/main">
            <a:off x="2177935" y="1104900"/>
            <a:ext cx="4788131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863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D3A5E-BB2E-4531-AA73-0F0FCB32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F"/>
                </a:solidFill>
              </a:defRPr>
            </a:pPr>
            <a:r>
              <a:rPr sz="1875" b="1">
                <a:solidFill>
                  <a:srgbClr val="18212F"/>
                </a:solidFill>
              </a:rPr>
              <a:t>Evidence: Hugging Face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B19F0-CEE7-4B83-B668-A4CE76FB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  <a:r>
              <a:rPr sz="825">
                <a:solidFill>
                  <a:srgbClr val="4B5563"/>
                </a:solidFill>
              </a:rPr>
              <a:t>Registered dataset repository: huggingface.co/datasets/mazin903/tourism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D2B34-0BDF-4554-98CE-4507DBC3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3439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fd330f670485b"/>
          <a:stretch xmlns:a="http://schemas.openxmlformats.org/drawingml/2006/main"/>
        </p:blipFill>
        <p:spPr>
          <a:xfrm xmlns:a="http://schemas.openxmlformats.org/drawingml/2006/main">
            <a:off x="1938528" y="1104900"/>
            <a:ext cx="5266944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173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3DB1F-3695-436E-8101-3537F473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F"/>
                </a:solidFill>
              </a:defRPr>
            </a:pPr>
            <a:r>
              <a:rPr sz="1875" b="1">
                <a:solidFill>
                  <a:srgbClr val="18212F"/>
                </a:solidFill>
              </a:rPr>
              <a:t>Evidence: Hugging Face Model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92097-C511-4B91-AA51-42F94FB5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  <a:r>
              <a:rPr sz="825">
                <a:solidFill>
                  <a:srgbClr val="4B5563"/>
                </a:solidFill>
              </a:rPr>
              <a:t>Registered model artifact repository: huggingface.co/mazin903/tourism-package-model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8D75C-E896-4790-AB71-6F88089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3439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cb8ef2fc54972"/>
          <a:stretch xmlns:a="http://schemas.openxmlformats.org/drawingml/2006/main"/>
        </p:blipFill>
        <p:spPr>
          <a:xfrm xmlns:a="http://schemas.openxmlformats.org/drawingml/2006/main">
            <a:off x="1938528" y="1104900"/>
            <a:ext cx="5266944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5120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E9E6A-10D7-49FC-9AAD-1ED0EEDD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F"/>
                </a:solidFill>
              </a:defRPr>
            </a:pPr>
            <a:r>
              <a:rPr sz="1875" b="1">
                <a:solidFill>
                  <a:srgbClr val="18212F"/>
                </a:solidFill>
              </a:rPr>
              <a:t>Evidence: Streamlit Community Cloud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76665-07A6-4E62-BB27-3B07BF84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  <a:r>
              <a:rPr sz="825">
                <a:solidFill>
                  <a:srgbClr val="4B5563"/>
                </a:solidFill>
              </a:rPr>
              <a:t>Primary accepted app deployment: tourism-package-prediction-mazin903.streamlit.app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66AB5-5B45-4319-A63D-739E21DB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3439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4bbf750d24f0f"/>
          <a:stretch xmlns:a="http://schemas.openxmlformats.org/drawingml/2006/main"/>
        </p:blipFill>
        <p:spPr>
          <a:xfrm xmlns:a="http://schemas.openxmlformats.org/drawingml/2006/main">
            <a:off x="2269025" y="1104900"/>
            <a:ext cx="4605949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944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86701-2827-4307-A7E4-36B755A9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F"/>
                </a:solidFill>
              </a:defRPr>
            </a:pPr>
            <a:r>
              <a:rPr sz="1875" b="1">
                <a:solidFill>
                  <a:srgbClr val="18212F"/>
                </a:solidFill>
              </a:rPr>
              <a:t>Evidence: Hugging Face Static Space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989C5-AF75-482D-B605-2D66203F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  <a:r>
              <a:rPr sz="825">
                <a:solidFill>
                  <a:srgbClr val="4B5563"/>
                </a:solidFill>
              </a:rPr>
              <a:t>Free hosted prediction-app backup: huggingface.co/spaces/mazin903/tourism-package-prediction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C458C-7059-4998-B19B-362FF0CF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3439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380831c854ee0"/>
          <a:stretch xmlns:a="http://schemas.openxmlformats.org/drawingml/2006/main"/>
        </p:blipFill>
        <p:spPr>
          <a:xfrm xmlns:a="http://schemas.openxmlformats.org/drawingml/2006/main">
            <a:off x="1938528" y="1104900"/>
            <a:ext cx="5266944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19819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2026-08-29T19:52:31.4850000Z</dcterms:created>
  <dcterms:modified xsi:type="dcterms:W3CDTF">2026-08-29T19:52:31.4850000Z</dcterms:modified>
</coreProperties>
</file>