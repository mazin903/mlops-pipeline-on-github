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bfe70071d54c53" /><Relationship Type="http://schemas.openxmlformats.org/officeDocument/2006/relationships/extended-properties" Target="/docProps/app.xml" Id="R2948c11db3e84518" /><Relationship Type="http://schemas.openxmlformats.org/officeDocument/2006/relationships/officeDocument" Target="/ppt/presentation.xml" Id="R87b1fa2648554a5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ecbe781cc3e4fa4"/>
    <p:sldMasterId xmlns:r="http://schemas.openxmlformats.org/officeDocument/2006/relationships" id="2147483660" r:id="Re2dbbe2ce9174107"/>
  </p:sldMasterIdLst>
  <p:notesMasterIdLst>
    <p:notesMasterId xmlns:r="http://schemas.openxmlformats.org/officeDocument/2006/relationships" r:id="R0104423212574fce"/>
  </p:notesMasterIdLst>
  <p:sldIdLst>
    <p:sldId xmlns:r="http://schemas.openxmlformats.org/officeDocument/2006/relationships" id="256" r:id="R21c414457cec49e0"/>
    <p:sldId xmlns:r="http://schemas.openxmlformats.org/officeDocument/2006/relationships" id="257" r:id="R9c042e80e6ac4199"/>
    <p:sldId xmlns:r="http://schemas.openxmlformats.org/officeDocument/2006/relationships" id="258" r:id="R4eb60b7d8fd042b6"/>
    <p:sldId xmlns:r="http://schemas.openxmlformats.org/officeDocument/2006/relationships" id="259" r:id="R029cf779b10145cb"/>
    <p:sldId xmlns:r="http://schemas.openxmlformats.org/officeDocument/2006/relationships" id="260" r:id="R46bf652208e34f61"/>
    <p:sldId xmlns:r="http://schemas.openxmlformats.org/officeDocument/2006/relationships" id="261" r:id="Rfef4724c865040e1"/>
    <p:sldId xmlns:r="http://schemas.openxmlformats.org/officeDocument/2006/relationships" id="262" r:id="R7de64c30f1a5403b"/>
    <p:sldId xmlns:r="http://schemas.openxmlformats.org/officeDocument/2006/relationships" id="263" r:id="Re586b86f4ce24024"/>
    <p:sldId xmlns:r="http://schemas.openxmlformats.org/officeDocument/2006/relationships" id="264" r:id="Rb73b3c61c3074ef7"/>
    <p:sldId xmlns:r="http://schemas.openxmlformats.org/officeDocument/2006/relationships" id="265" r:id="R304a934d9b4149b1"/>
    <p:sldId xmlns:r="http://schemas.openxmlformats.org/officeDocument/2006/relationships" id="266" r:id="R56372632a92e4f35"/>
    <p:sldId xmlns:r="http://schemas.openxmlformats.org/officeDocument/2006/relationships" id="267" r:id="R4c98dccb33214065"/>
    <p:sldId xmlns:r="http://schemas.openxmlformats.org/officeDocument/2006/relationships" id="268" r:id="R7207dba7ab904bd6"/>
    <p:sldId xmlns:r="http://schemas.openxmlformats.org/officeDocument/2006/relationships" id="269" r:id="R1ddd382839a64ae1"/>
    <p:sldId xmlns:r="http://schemas.openxmlformats.org/officeDocument/2006/relationships" id="270" r:id="R50cbed68ae784604"/>
    <p:sldId xmlns:r="http://schemas.openxmlformats.org/officeDocument/2006/relationships" id="271" r:id="Rd399d46df3e24107"/>
  </p:sldIdLst>
  <p:sldSz cx="9144000" cy="5143500"/>
  <p:notesSz cx="6858000" cy="9144000"/>
  <p:embeddedFontLst>
    <p:embeddedFont>
      <p:font typeface="Nunito SemiBold"/>
      <p:regular xmlns:r="http://schemas.openxmlformats.org/officeDocument/2006/relationships" r:id="R38f9f1da8130483b"/>
      <p:bold xmlns:r="http://schemas.openxmlformats.org/officeDocument/2006/relationships" r:id="R75061c5a8e054332"/>
      <p:italic xmlns:r="http://schemas.openxmlformats.org/officeDocument/2006/relationships" r:id="R7464958ae69f47d3"/>
      <p:boldItalic xmlns:r="http://schemas.openxmlformats.org/officeDocument/2006/relationships" r:id="R2e71d347617c4c8c"/>
    </p:embeddedFont>
    <p:embeddedFont>
      <p:font typeface="Nunito"/>
      <p:regular xmlns:r="http://schemas.openxmlformats.org/officeDocument/2006/relationships" r:id="R3b8011a3cd434392"/>
      <p:bold xmlns:r="http://schemas.openxmlformats.org/officeDocument/2006/relationships" r:id="R38b5656df09640e5"/>
      <p:italic xmlns:r="http://schemas.openxmlformats.org/officeDocument/2006/relationships" r:id="R97f262cb2cf64534"/>
      <p:boldItalic xmlns:r="http://schemas.openxmlformats.org/officeDocument/2006/relationships" r:id="R67ebf95834a142bd"/>
    </p:embeddedFont>
    <p:embeddedFont>
      <p:font typeface="Nunito ExtraBold"/>
      <p:bold xmlns:r="http://schemas.openxmlformats.org/officeDocument/2006/relationships" r:id="R045480195eb446ea"/>
      <p:boldItalic xmlns:r="http://schemas.openxmlformats.org/officeDocument/2006/relationships" r:id="Reb25009dfd084bb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7C2EA955-FAA9-4741-80A4-FAB2EC53E622}">
  <a:tblStyle styleId="{7C2EA955-FAA9-4741-80A4-FAB2EC53E6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a733372c7f4b0a" /><Relationship Type="http://schemas.openxmlformats.org/officeDocument/2006/relationships/slideMaster" Target="/ppt/slideMasters/slideMaster1.xml" Id="R6ecbe781cc3e4fa4" /><Relationship Type="http://schemas.openxmlformats.org/officeDocument/2006/relationships/slideMaster" Target="/ppt/slideMasters/slideMaster2.xml" Id="Re2dbbe2ce9174107" /><Relationship Type="http://schemas.openxmlformats.org/officeDocument/2006/relationships/notesMaster" Target="/ppt/notesMasters/notesMaster1.xml" Id="R0104423212574fce" /><Relationship Type="http://schemas.openxmlformats.org/officeDocument/2006/relationships/presProps" Target="/ppt/presProps.xml" Id="Rd5c18c3564ba4da5" /><Relationship Type="http://schemas.openxmlformats.org/officeDocument/2006/relationships/viewProps" Target="/ppt/viewProps.xml" Id="R9393f652f4534cc2" /><Relationship Type="http://schemas.openxmlformats.org/officeDocument/2006/relationships/tableStyles" Target="/ppt/tableStyles.xml" Id="Rf011af9db5a2406f" /><Relationship Type="http://schemas.openxmlformats.org/officeDocument/2006/relationships/font" Target="/ppt/fonts/font.dat" Id="R38f9f1da8130483b" /><Relationship Type="http://schemas.openxmlformats.org/officeDocument/2006/relationships/font" Target="/ppt/fonts/font2.dat" Id="R75061c5a8e054332" /><Relationship Type="http://schemas.openxmlformats.org/officeDocument/2006/relationships/font" Target="/ppt/fonts/font3.dat" Id="R7464958ae69f47d3" /><Relationship Type="http://schemas.openxmlformats.org/officeDocument/2006/relationships/font" Target="/ppt/fonts/font4.dat" Id="R2e71d347617c4c8c" /><Relationship Type="http://schemas.openxmlformats.org/officeDocument/2006/relationships/font" Target="/ppt/fonts/font5.dat" Id="R3b8011a3cd434392" /><Relationship Type="http://schemas.openxmlformats.org/officeDocument/2006/relationships/font" Target="/ppt/fonts/font6.dat" Id="R38b5656df09640e5" /><Relationship Type="http://schemas.openxmlformats.org/officeDocument/2006/relationships/font" Target="/ppt/fonts/font7.dat" Id="R97f262cb2cf64534" /><Relationship Type="http://schemas.openxmlformats.org/officeDocument/2006/relationships/font" Target="/ppt/fonts/font8.dat" Id="R67ebf95834a142bd" /><Relationship Type="http://schemas.openxmlformats.org/officeDocument/2006/relationships/font" Target="/ppt/fonts/font9.dat" Id="R045480195eb446ea" /><Relationship Type="http://schemas.openxmlformats.org/officeDocument/2006/relationships/font" Target="/ppt/fonts/font10.dat" Id="Reb25009dfd084bbe" /><Relationship Type="http://schemas.openxmlformats.org/officeDocument/2006/relationships/slide" Target="/ppt/slides/slide1.xml" Id="R21c414457cec49e0" /><Relationship Type="http://schemas.openxmlformats.org/officeDocument/2006/relationships/slide" Target="/ppt/slides/slide2.xml" Id="R9c042e80e6ac4199" /><Relationship Type="http://schemas.openxmlformats.org/officeDocument/2006/relationships/slide" Target="/ppt/slides/slide3.xml" Id="R4eb60b7d8fd042b6" /><Relationship Type="http://schemas.openxmlformats.org/officeDocument/2006/relationships/slide" Target="/ppt/slides/slide4.xml" Id="R029cf779b10145cb" /><Relationship Type="http://schemas.openxmlformats.org/officeDocument/2006/relationships/slide" Target="/ppt/slides/slide5.xml" Id="R46bf652208e34f61" /><Relationship Type="http://schemas.openxmlformats.org/officeDocument/2006/relationships/slide" Target="/ppt/slides/slide6.xml" Id="Rfef4724c865040e1" /><Relationship Type="http://schemas.openxmlformats.org/officeDocument/2006/relationships/slide" Target="/ppt/slides/slide7.xml" Id="R7de64c30f1a5403b" /><Relationship Type="http://schemas.openxmlformats.org/officeDocument/2006/relationships/slide" Target="/ppt/slides/slide8.xml" Id="Re586b86f4ce24024" /><Relationship Type="http://schemas.openxmlformats.org/officeDocument/2006/relationships/slide" Target="/ppt/slides/slide9.xml" Id="Rb73b3c61c3074ef7" /><Relationship Type="http://schemas.openxmlformats.org/officeDocument/2006/relationships/slide" Target="/ppt/slides/slide10.xml" Id="R304a934d9b4149b1" /><Relationship Type="http://schemas.openxmlformats.org/officeDocument/2006/relationships/slide" Target="/ppt/slides/slide11.xml" Id="R56372632a92e4f35" /><Relationship Type="http://schemas.openxmlformats.org/officeDocument/2006/relationships/slide" Target="/ppt/slides/slide12.xml" Id="R4c98dccb33214065" /><Relationship Type="http://schemas.openxmlformats.org/officeDocument/2006/relationships/slide" Target="/ppt/slides/slide13.xml" Id="R7207dba7ab904bd6" /><Relationship Type="http://schemas.openxmlformats.org/officeDocument/2006/relationships/slide" Target="/ppt/slides/slide14.xml" Id="R1ddd382839a64ae1" /><Relationship Type="http://schemas.openxmlformats.org/officeDocument/2006/relationships/slide" Target="/ppt/slides/slide15.xml" Id="R50cbed68ae784604" /><Relationship Type="http://schemas.openxmlformats.org/officeDocument/2006/relationships/slide" Target="/ppt/slides/slide16.xml" Id="Rd399d46df3e241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7ca5dbb5b2db43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3f2dbe2d2d4146" /><Relationship Type="http://schemas.openxmlformats.org/officeDocument/2006/relationships/notesMaster" Target="/ppt/notesMasters/notesMaster1.xml" Id="R6d283bef33ad40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4c6bbefc854e68" /><Relationship Type="http://schemas.openxmlformats.org/officeDocument/2006/relationships/notesMaster" Target="/ppt/notesMasters/notesMaster1.xml" Id="Rd2b6a3e8611b43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f6e22a1e5c4ae2" /><Relationship Type="http://schemas.openxmlformats.org/officeDocument/2006/relationships/notesMaster" Target="/ppt/notesMasters/notesMaster1.xml" Id="R9c2b9aab752841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526716e19b441d" /><Relationship Type="http://schemas.openxmlformats.org/officeDocument/2006/relationships/notesMaster" Target="/ppt/notesMasters/notesMaster1.xml" Id="R17b9ce55a93042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1c7d935f2e4fc0" /><Relationship Type="http://schemas.openxmlformats.org/officeDocument/2006/relationships/notesMaster" Target="/ppt/notesMasters/notesMaster1.xml" Id="R2caf96552e0143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fb308cb8824618" /><Relationship Type="http://schemas.openxmlformats.org/officeDocument/2006/relationships/notesMaster" Target="/ppt/notesMasters/notesMaster1.xml" Id="Ra885495aaca345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1562026d3c4d6f" /><Relationship Type="http://schemas.openxmlformats.org/officeDocument/2006/relationships/notesMaster" Target="/ppt/notesMasters/notesMaster1.xml" Id="Rdcb32fbd269342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d413d3ce544269" /><Relationship Type="http://schemas.openxmlformats.org/officeDocument/2006/relationships/notesMaster" Target="/ppt/notesMasters/notesMaster1.xml" Id="Ra83af9c91bb34f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ac54258d424b31" /><Relationship Type="http://schemas.openxmlformats.org/officeDocument/2006/relationships/notesMaster" Target="/ppt/notesMasters/notesMaster1.xml" Id="Rf2475fdded784b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adbdf7af6f4a97" /><Relationship Type="http://schemas.openxmlformats.org/officeDocument/2006/relationships/notesMaster" Target="/ppt/notesMasters/notesMaster1.xml" Id="Rd727d092539244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e148a6966049b4" /><Relationship Type="http://schemas.openxmlformats.org/officeDocument/2006/relationships/notesMaster" Target="/ppt/notesMasters/notesMaster1.xml" Id="R1233d60e3a3c47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01d2b4ac7243d3" /><Relationship Type="http://schemas.openxmlformats.org/officeDocument/2006/relationships/notesMaster" Target="/ppt/notesMasters/notesMaster1.xml" Id="R352cede9ab4e47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9b231a858c4cb5" /><Relationship Type="http://schemas.openxmlformats.org/officeDocument/2006/relationships/notesMaster" Target="/ppt/notesMasters/notesMaster1.xml" Id="Rda7253dbe4df41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241aa4c0174c5c" /><Relationship Type="http://schemas.openxmlformats.org/officeDocument/2006/relationships/notesMaster" Target="/ppt/notesMasters/notesMaster1.xml" Id="Rccd61f2147c748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25ec20413744f6" /><Relationship Type="http://schemas.openxmlformats.org/officeDocument/2006/relationships/notesMaster" Target="/ppt/notesMasters/notesMaster1.xml" Id="Rd50bd5117f014d9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ed69f8ce4b46dc" /><Relationship Type="http://schemas.openxmlformats.org/officeDocument/2006/relationships/notesMaster" Target="/ppt/notesMasters/notesMaster1.xml" Id="Rb959ecc574a84a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assignment context and presentation audience.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required MLOps evidence areas.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 instruction: cover name spelling confirmed as Mazin Alahmadi.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visible deck should focus on business analysis, not code.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agenda mirrors scoring categories.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4,011 customers, 774 buyers, 19.3%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local test metrics from the trained model.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model training and threshold selection.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prepare business overview, solution approach, insights, recommendations, and benefits.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GitHub, Hugging Face, deployment, and workflow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tourism_project/model_building/data_register.py: dataset repository creation and raw data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card content.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Registration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data loading, cleaning, splitting, and processed upload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tourism_project/data/processed/*.csv: generated cleaned, train, and test files.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Preparation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base conversion and summarized takeaways.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tourism_project/reports/conversion_by_Passport.csv: passport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tourism_project/reports/conversion_by_ProductPitched.csv: product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tourism_project/reports/conversion_by_MaritalStatus.csv: marital-status segment conversion.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preprocessing, XGBoost training, grid search, MLflow logging, and model packaging.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model performance.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tourism_project/model_building/model_card.md: Model Hub documentation.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tourism_project/reports/threshold_analysis.csv: threshold comparison table.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selected-threshold test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top model drivers.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tourism_project/deployment/app.py: Streamlit scoring app and model download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tourism_project/deployment/Dockerfile: container configuration.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Hugging Face Space upload script.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User-provided Great Learning support response: Streamlit Community Cloud deployment is acceptable and HF subscription is optional.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Streamlit Docs: https://docs.streamlit.io/deploy/streamlit-community-cloud/deploy-your-app/deploy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Hugging Face Docs: https://huggingface.co/docs/hub/spaces-sdks-static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Deployment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GitHub Actions pipeline definition.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.env.example: required environment variables.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 Actions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Output Evaluation requires links and screenshots.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README.md: local run, Colab run, account setup, and repository structure.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User-provided GitHub repository and Hugging Face username.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User-provided Great Learning support response: Streamlit Community Cloud deployment details are acceptable.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Source slide 10 preserved as the appendix divider.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tourism_project/config.py: feature lists and target variable.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documentation.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generated processed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approved algorithm, tuning grid, MLflow logging, and model hub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evaluation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feature importance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CI/CD implementation.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deployment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workflow evidence and automatic push-back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f4c08dd3c42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51cc56898b41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5ff3127a304a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a0c3cb77134f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44688fcee42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2d720d4964ba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2f245833e4e6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0b9e5434c14f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323c811e5472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2561137d464ff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fcf084fa8463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3e3dd52afa34c1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268312709c043ef" /><Relationship Type="http://schemas.openxmlformats.org/officeDocument/2006/relationships/image" Target="/ppt/media/image2.png" Id="R5299a479ed7f426e" /><Relationship Type="http://schemas.openxmlformats.org/officeDocument/2006/relationships/image" Target="/ppt/media/image3.png" Id="Rbfdfcbc6bd93497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75f674da1c04e9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353f3dc715048f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5b03e2f4ab400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dfa88fb76cf435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2c50d7919e64ac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6c3b15010f843f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11a39c545a6427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9dc3d2356684f57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397FC1AC-25DC-46F0-96CC-2A652277F9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E324E1F2-F052-4C24-A0AA-C0E726D224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78FCD01-4E7D-43F9-96F1-64CE403A25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2556162A-2B5D-4C99-8C0F-5D188F69B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246473B-90B9-4D97-B99D-0299003E48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05BAA5F-9955-4159-B9ED-F192C7501E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0EEDE71D-EA1A-433C-BEAB-848884CF34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34F00358-3E15-49A1-A9FC-D1C243EADE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DA318160-EF8A-482E-A872-F6A79A334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5DA7323-ED3E-45C2-AE33-3E6705DB4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61613E98-082F-42B8-B0DA-4DD212C9D8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679412A7-02B6-412E-AD7F-D71A82A732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54D3E247-556A-4BBA-AF5D-3CE7E3B1F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9473B15-935E-4D52-B991-A92CE0643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929D6711-0D70-4A1D-8BEC-E75136663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DAD4E78-3171-4984-AAF2-742847487A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9201E891-4299-48D8-96BB-BEB87D7E1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ACDA31A1-BA68-4F3B-BDF7-E0D863574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9031AB7A-B788-488D-9B15-B4FCBEC331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2DB13A5-6E78-4691-B497-7A4528D7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5AA03E8B-6F12-4D64-A46E-282D78029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8BF9C787-EACE-4906-B76D-B6C4355C89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BFD0EE2D-E225-416B-853A-8DEBF7567F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5F908037-37F3-4000-A9C4-942F988F49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75152DF0-6E86-43E8-8EC9-55E54B1195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70086186-FE6E-4FE6-821B-FF093B8466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F87C8D79-AEBD-4C12-9C84-10B3B6C1B88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47F4E37F-311D-4823-B027-F3FF7EF9D3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C4C66F7-7701-43BA-B626-EC3661C0F3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09839EE-9729-4144-BD45-EC93E189A8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6492E472-E765-4C14-BD4A-E132DF547CE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210208" y="744575"/>
            <a:ext cx="66222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306B3743-21D0-4666-BD82-D5B78FDD5B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10202" y="2834125"/>
            <a:ext cx="66222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3.xml><?xml version="1.0" encoding="utf-8"?>
<p:sldLayout xmlns:p="http://schemas.openxmlformats.org/presentationml/2006/main" matchingName="Blank 1">
  <p:cSld name="BLANK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D02ACAC4-623F-4E66-BB2F-2E72A703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-335"/>
            <a:ext cx="9144600" cy="514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0" name="Google Shape;64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99a479ed7f426e">
            <a:alphaModFix/>
          </a:blip>
          <a:srcRect xmlns:a="http://schemas.openxmlformats.org/drawingml/2006/main" l="42816" t="18359" r="37297" b="19152"/>
          <a:stretch xmlns:a="http://schemas.openxmlformats.org/drawingml/2006/main"/>
        </p:blipFill>
        <p:spPr>
          <a:xfrm xmlns:a="http://schemas.openxmlformats.org/drawingml/2006/main">
            <a:off x="6052536" y="514443"/>
            <a:ext cx="2095112" cy="3703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ABBA9FE9-D46A-4ABA-980B-805543E09E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129" y="6703219"/>
            <a:ext cx="15008700" cy="69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12850" rIns="0" bIns="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E2147B1C-C98C-4443-9179-59FC233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65" y="1676232"/>
            <a:ext cx="43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sz="3300" b="0" i="0" u="non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</a:rPr>
              <a:t>Happy Learning !</a:t>
            </a:r>
            <a:endParaRPr sz="3300" b="0" i="0" u="none" cap="none">
              <a:solidFill>
                <a:schemeClr val="lt1"/>
              </a:solidFill>
              <a:latin typeface="Nunito ExtraBold"/>
              <a:ea typeface="Nunito ExtraBold"/>
              <a:cs typeface="Nunito ExtraBold"/>
            </a:endParaRPr>
          </a:p>
        </p:txBody>
      </p:sp>
      <p:pic>
        <p:nvPicPr>
          <p:cNvPr id="73" name="Google Shape;67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dfcbc6bd9349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95874" y="683275"/>
            <a:ext cx="3757725" cy="825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6">
            <a:extLst xmlns:a="http://schemas.openxmlformats.org/drawingml/2006/main">
              <a:ext uri="{FF2B5EF4-FFF2-40B4-BE49-F238E27FC236}">
                <a16:creationId xmlns:a16="http://schemas.microsoft.com/office/drawing/2014/main" id="{6D472DCC-F4C6-40D9-9FB5-BAC94218E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0" name="Google Shape;70;p16">
            <a:extLst xmlns:a="http://schemas.openxmlformats.org/drawingml/2006/main">
              <a:ext uri="{FF2B5EF4-FFF2-40B4-BE49-F238E27FC236}">
                <a16:creationId xmlns:a16="http://schemas.microsoft.com/office/drawing/2014/main" id="{B27B9885-4518-4B44-90E0-855194298B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7">
            <a:extLst xmlns:a="http://schemas.openxmlformats.org/drawingml/2006/main">
              <a:ext uri="{FF2B5EF4-FFF2-40B4-BE49-F238E27FC236}">
                <a16:creationId xmlns:a16="http://schemas.microsoft.com/office/drawing/2014/main" id="{6FF87131-AD5B-4B16-AD48-0D6029816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17">
            <a:extLst xmlns:a="http://schemas.openxmlformats.org/drawingml/2006/main">
              <a:ext uri="{FF2B5EF4-FFF2-40B4-BE49-F238E27FC236}">
                <a16:creationId xmlns:a16="http://schemas.microsoft.com/office/drawing/2014/main" id="{117D7CE6-9F12-458D-9FA8-AD546A8285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74" name="Google Shape;74;p17">
            <a:extLst xmlns:a="http://schemas.openxmlformats.org/drawingml/2006/main">
              <a:ext uri="{FF2B5EF4-FFF2-40B4-BE49-F238E27FC236}">
                <a16:creationId xmlns:a16="http://schemas.microsoft.com/office/drawing/2014/main" id="{CADFB1A9-99C3-4CF3-AFC6-C328EC88F6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able">
  <p:cSld name="CUS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Google Shape;76;p18">
            <a:extLst xmlns:a="http://schemas.openxmlformats.org/drawingml/2006/main">
              <a:ext uri="{FF2B5EF4-FFF2-40B4-BE49-F238E27FC236}">
                <a16:creationId xmlns:a16="http://schemas.microsoft.com/office/drawing/2014/main" id="{F96DFF44-42E6-4D7A-8B1C-87E6962441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graphicFrame>
        <p:nvGraphicFramePr>
          <p:cNvPr id="81" name="Google Shape;77;p18"/>
          <p:cNvGraphicFramePr/>
          <p:nvPr/>
        </p:nvGraphicFramePr>
        <p:xfrm>
          <a:off xmlns:a="http://schemas.openxmlformats.org/drawingml/2006/main" x="201942" y="833662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{7C2EA955-FAA9-4741-80A4-FAB2EC53E622}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 Profile 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Business Insights for Marketing Team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1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High value customers who have many credit cards and prefer to engage online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Engage Online – Set up priority calling in lines – Upsell and Cross sell premium products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2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..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3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8" name="Google Shape;78;p18">
            <a:extLst xmlns:a="http://schemas.openxmlformats.org/drawingml/2006/main">
              <a:ext uri="{FF2B5EF4-FFF2-40B4-BE49-F238E27FC236}">
                <a16:creationId xmlns:a16="http://schemas.microsoft.com/office/drawing/2014/main" id="{9700C45F-D80B-4D39-8D3A-D65B78A2E1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19">
            <a:extLst xmlns:a="http://schemas.openxmlformats.org/drawingml/2006/main">
              <a:ext uri="{FF2B5EF4-FFF2-40B4-BE49-F238E27FC236}">
                <a16:creationId xmlns:a16="http://schemas.microsoft.com/office/drawing/2014/main" id="{F8DAB412-7191-4CC2-A886-1988E8C24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1" name="Google Shape;81;p19">
            <a:extLst xmlns:a="http://schemas.openxmlformats.org/drawingml/2006/main">
              <a:ext uri="{FF2B5EF4-FFF2-40B4-BE49-F238E27FC236}">
                <a16:creationId xmlns:a16="http://schemas.microsoft.com/office/drawing/2014/main" id="{392B762B-0DDD-4CE6-9A3F-D56363C8B3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2" name="Google Shape;82;p19">
            <a:extLst xmlns:a="http://schemas.openxmlformats.org/drawingml/2006/main">
              <a:ext uri="{FF2B5EF4-FFF2-40B4-BE49-F238E27FC236}">
                <a16:creationId xmlns:a16="http://schemas.microsoft.com/office/drawing/2014/main" id="{F302A3A9-4B86-4209-9051-BD6ADF2A009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3" name="Google Shape;83;p19">
            <a:extLst xmlns:a="http://schemas.openxmlformats.org/drawingml/2006/main">
              <a:ext uri="{FF2B5EF4-FFF2-40B4-BE49-F238E27FC236}">
                <a16:creationId xmlns:a16="http://schemas.microsoft.com/office/drawing/2014/main" id="{B0D44E14-52C2-497E-A4CC-E5C16636EF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20">
            <a:extLst xmlns:a="http://schemas.openxmlformats.org/drawingml/2006/main">
              <a:ext uri="{FF2B5EF4-FFF2-40B4-BE49-F238E27FC236}">
                <a16:creationId xmlns:a16="http://schemas.microsoft.com/office/drawing/2014/main" id="{420F9CBA-B9C5-4DC6-9346-10116F7D82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6" name="Google Shape;86;p20">
            <a:extLst xmlns:a="http://schemas.openxmlformats.org/drawingml/2006/main">
              <a:ext uri="{FF2B5EF4-FFF2-40B4-BE49-F238E27FC236}">
                <a16:creationId xmlns:a16="http://schemas.microsoft.com/office/drawing/2014/main" id="{ACE56D6B-8DF0-41EC-BEF1-F950CA6914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21">
            <a:extLst xmlns:a="http://schemas.openxmlformats.org/drawingml/2006/main">
              <a:ext uri="{FF2B5EF4-FFF2-40B4-BE49-F238E27FC236}">
                <a16:creationId xmlns:a16="http://schemas.microsoft.com/office/drawing/2014/main" id="{22B6F188-D60F-4ACC-9828-D5C6C110CA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89" name="Google Shape;89;p21">
            <a:extLst xmlns:a="http://schemas.openxmlformats.org/drawingml/2006/main">
              <a:ext uri="{FF2B5EF4-FFF2-40B4-BE49-F238E27FC236}">
                <a16:creationId xmlns:a16="http://schemas.microsoft.com/office/drawing/2014/main" id="{286B02B8-35F3-49DC-9F13-1F0996ECAE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7A57D00F-B420-45EA-ABAB-C3A11281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EB4901B9-8143-4742-A06A-A2C3EBB39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88C0A895-EACD-4D2D-9E46-2E20DF477C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4" name="Google Shape;94;p22">
            <a:extLst xmlns:a="http://schemas.openxmlformats.org/drawingml/2006/main">
              <a:ext uri="{FF2B5EF4-FFF2-40B4-BE49-F238E27FC236}">
                <a16:creationId xmlns:a16="http://schemas.microsoft.com/office/drawing/2014/main" id="{A83A6BF1-2C81-43CE-94D2-9A0DF27AC4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5" name="Google Shape;95;p22">
            <a:extLst xmlns:a="http://schemas.openxmlformats.org/drawingml/2006/main">
              <a:ext uri="{FF2B5EF4-FFF2-40B4-BE49-F238E27FC236}">
                <a16:creationId xmlns:a16="http://schemas.microsoft.com/office/drawing/2014/main" id="{8F68F702-5C68-4716-8298-DF76EF6C55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Google Shape;97;p23">
            <a:extLst xmlns:a="http://schemas.openxmlformats.org/drawingml/2006/main">
              <a:ext uri="{FF2B5EF4-FFF2-40B4-BE49-F238E27FC236}">
                <a16:creationId xmlns:a16="http://schemas.microsoft.com/office/drawing/2014/main" id="{C9F5BA81-3577-44FD-85DC-14A992427A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fc71f8fb944ab0" /><Relationship Type="http://schemas.openxmlformats.org/officeDocument/2006/relationships/slideLayout" Target="/ppt/slideLayouts/slideLayout1.xml" Id="Red74d6f773a344d5" /><Relationship Type="http://schemas.openxmlformats.org/officeDocument/2006/relationships/slideLayout" Target="/ppt/slideLayouts/slideLayout2.xml" Id="R3a19b4a6f18248d9" /><Relationship Type="http://schemas.openxmlformats.org/officeDocument/2006/relationships/slideLayout" Target="/ppt/slideLayouts/slideLayout3.xml" Id="R480fdab7e68f4e65" /><Relationship Type="http://schemas.openxmlformats.org/officeDocument/2006/relationships/slideLayout" Target="/ppt/slideLayouts/slideLayout4.xml" Id="R4f1554b333e04309" /><Relationship Type="http://schemas.openxmlformats.org/officeDocument/2006/relationships/slideLayout" Target="/ppt/slideLayouts/slideLayout5.xml" Id="Rb1f6d5b1d4c245e2" /><Relationship Type="http://schemas.openxmlformats.org/officeDocument/2006/relationships/slideLayout" Target="/ppt/slideLayouts/slideLayout6.xml" Id="Re442222c608241ce" /><Relationship Type="http://schemas.openxmlformats.org/officeDocument/2006/relationships/slideLayout" Target="/ppt/slideLayouts/slideLayout7.xml" Id="R4f0b6aa0a0964714" /><Relationship Type="http://schemas.openxmlformats.org/officeDocument/2006/relationships/slideLayout" Target="/ppt/slideLayouts/slideLayout8.xml" Id="R9d81e14200444f8a" /><Relationship Type="http://schemas.openxmlformats.org/officeDocument/2006/relationships/slideLayout" Target="/ppt/slideLayouts/slideLayout9.xml" Id="R1ac7cf194cb24815" /><Relationship Type="http://schemas.openxmlformats.org/officeDocument/2006/relationships/slideLayout" Target="/ppt/slideLayouts/slideLayout10.xml" Id="R52f9c90db3ae4a8e" /><Relationship Type="http://schemas.openxmlformats.org/officeDocument/2006/relationships/slideLayout" Target="/ppt/slideLayouts/slideLayout11.xml" Id="Rb30ee16a65ab407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63cab8c4c16a4375" /><Relationship Type="http://schemas.openxmlformats.org/officeDocument/2006/relationships/theme" Target="/ppt/slideMasters/theme/theme3.xml" Id="R4cea8398584c473a" /><Relationship Type="http://schemas.openxmlformats.org/officeDocument/2006/relationships/slideLayout" Target="/ppt/slideLayouts/slideLayout12.xml" Id="Rd3e66ff8cb1c4f8f" /><Relationship Type="http://schemas.openxmlformats.org/officeDocument/2006/relationships/slideLayout" Target="/ppt/slideLayouts/slideLayout13.xml" Id="Rf7df69e26df34b62" /><Relationship Type="http://schemas.openxmlformats.org/officeDocument/2006/relationships/slideLayout" Target="/ppt/slideLayouts/slideLayout14.xml" Id="R6e5e4ea5a7e14d1f" /><Relationship Type="http://schemas.openxmlformats.org/officeDocument/2006/relationships/slideLayout" Target="/ppt/slideLayouts/slideLayout15.xml" Id="Rbc7a9b9c6b794fcb" /><Relationship Type="http://schemas.openxmlformats.org/officeDocument/2006/relationships/slideLayout" Target="/ppt/slideLayouts/slideLayout16.xml" Id="Rd8e1f79873654e98" /><Relationship Type="http://schemas.openxmlformats.org/officeDocument/2006/relationships/slideLayout" Target="/ppt/slideLayouts/slideLayout17.xml" Id="R8a62c6ba0f6c48bf" /><Relationship Type="http://schemas.openxmlformats.org/officeDocument/2006/relationships/slideLayout" Target="/ppt/slideLayouts/slideLayout18.xml" Id="R41c964618465458e" /><Relationship Type="http://schemas.openxmlformats.org/officeDocument/2006/relationships/slideLayout" Target="/ppt/slideLayouts/slideLayout19.xml" Id="R0e6af12678074b3c" /><Relationship Type="http://schemas.openxmlformats.org/officeDocument/2006/relationships/slideLayout" Target="/ppt/slideLayouts/slideLayout20.xml" Id="R76e1f109b6ae47be" /><Relationship Type="http://schemas.openxmlformats.org/officeDocument/2006/relationships/slideLayout" Target="/ppt/slideLayouts/slideLayout21.xml" Id="R3190a0cd883a43eb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2571C84E-3CE1-4452-B454-1BF4FAF66F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AA716357-4FEF-40C4-ACC1-87E53C0042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F7CB17F9-ED88-41A3-B41E-2103675E24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74d6f773a344d5"/>
    <p:sldLayoutId xmlns:r="http://schemas.openxmlformats.org/officeDocument/2006/relationships" id="2147483650" r:id="R3a19b4a6f18248d9"/>
    <p:sldLayoutId xmlns:r="http://schemas.openxmlformats.org/officeDocument/2006/relationships" id="2147483651" r:id="R480fdab7e68f4e65"/>
    <p:sldLayoutId xmlns:r="http://schemas.openxmlformats.org/officeDocument/2006/relationships" id="2147483652" r:id="R4f1554b333e04309"/>
    <p:sldLayoutId xmlns:r="http://schemas.openxmlformats.org/officeDocument/2006/relationships" id="2147483653" r:id="Rb1f6d5b1d4c245e2"/>
    <p:sldLayoutId xmlns:r="http://schemas.openxmlformats.org/officeDocument/2006/relationships" id="2147483654" r:id="Re442222c608241ce"/>
    <p:sldLayoutId xmlns:r="http://schemas.openxmlformats.org/officeDocument/2006/relationships" id="2147483655" r:id="R4f0b6aa0a0964714"/>
    <p:sldLayoutId xmlns:r="http://schemas.openxmlformats.org/officeDocument/2006/relationships" id="2147483656" r:id="R9d81e14200444f8a"/>
    <p:sldLayoutId xmlns:r="http://schemas.openxmlformats.org/officeDocument/2006/relationships" id="2147483657" r:id="R1ac7cf194cb24815"/>
    <p:sldLayoutId xmlns:r="http://schemas.openxmlformats.org/officeDocument/2006/relationships" id="2147483658" r:id="R52f9c90db3ae4a8e"/>
    <p:sldLayoutId xmlns:r="http://schemas.openxmlformats.org/officeDocument/2006/relationships" id="2147483659" r:id="Rb30ee16a65ab4071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C62DA1CD-A47A-4EFC-80E9-A160FC20A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5F0CF8A3-F91C-468B-B400-37DE445161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610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marR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1pPr>
            <a:lvl2pPr marL="914400" marR="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2pPr>
            <a:lvl3pPr marL="1371600" marR="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3pPr>
            <a:lvl4pPr marL="1828800" marR="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4pPr>
            <a:lvl5pPr marL="2286000" marR="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5pPr>
            <a:lvl6pPr marL="2743200" marR="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6pPr>
            <a:lvl7pPr marL="3200400" marR="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7pPr>
            <a:lvl8pPr marL="3657600" marR="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8pPr>
            <a:lvl9pPr marL="4114800" marR="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A6310921-373C-4268-8EA9-CA0D978C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400" y="4917657"/>
            <a:ext cx="4675200" cy="27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12700" marR="0" lvl="0" indent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sz="7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rPr>
              <a:t>Proprietary content. © Great Learning. All Rights Reserved. Unauthorized use or distribution prohibited.</a:t>
            </a:r>
            <a:endParaRPr sz="700" b="1" i="0" u="none" cap="none">
              <a:solidFill>
                <a:srgbClr val="434343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87D92B6B-B4EC-4299-B33B-D2643C8DB3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4" name="Google Shape;55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cab8c4c16a43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669500" y="68264"/>
            <a:ext cx="1395476" cy="5727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EAF79F2D-37B3-4EDA-B2E6-FFCE9EA0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10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13">
            <a:extLst xmlns:a="http://schemas.openxmlformats.org/drawingml/2006/main">
              <a:ext uri="{FF2B5EF4-FFF2-40B4-BE49-F238E27FC236}">
                <a16:creationId xmlns:a16="http://schemas.microsoft.com/office/drawing/2014/main" id="{5BC823C4-D532-43B7-94EB-56FA3FA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353731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4D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d3e66ff8cb1c4f8f"/>
    <p:sldLayoutId xmlns:r="http://schemas.openxmlformats.org/officeDocument/2006/relationships" id="2147483662" r:id="Rf7df69e26df34b62"/>
    <p:sldLayoutId xmlns:r="http://schemas.openxmlformats.org/officeDocument/2006/relationships" id="2147483663" r:id="R6e5e4ea5a7e14d1f"/>
    <p:sldLayoutId xmlns:r="http://schemas.openxmlformats.org/officeDocument/2006/relationships" id="2147483664" r:id="Rbc7a9b9c6b794fcb"/>
    <p:sldLayoutId xmlns:r="http://schemas.openxmlformats.org/officeDocument/2006/relationships" id="2147483665" r:id="Rd8e1f79873654e98"/>
    <p:sldLayoutId xmlns:r="http://schemas.openxmlformats.org/officeDocument/2006/relationships" id="2147483666" r:id="R8a62c6ba0f6c48bf"/>
    <p:sldLayoutId xmlns:r="http://schemas.openxmlformats.org/officeDocument/2006/relationships" id="2147483667" r:id="R41c964618465458e"/>
    <p:sldLayoutId xmlns:r="http://schemas.openxmlformats.org/officeDocument/2006/relationships" id="2147483668" r:id="R0e6af12678074b3c"/>
    <p:sldLayoutId xmlns:r="http://schemas.openxmlformats.org/officeDocument/2006/relationships" id="2147483669" r:id="R76e1f109b6ae47be"/>
    <p:sldLayoutId xmlns:r="http://schemas.openxmlformats.org/officeDocument/2006/relationships" id="2147483670" r:id="R3190a0cd883a43eb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eed91690be54913" /><Relationship Type="http://schemas.openxmlformats.org/officeDocument/2006/relationships/notesSlide" Target="/ppt/notesSlides/notesSlide1.xml" Id="R747ba52b075344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e03cafae6034a25" /><Relationship Type="http://schemas.openxmlformats.org/officeDocument/2006/relationships/notesSlide" Target="/ppt/notesSlides/notesSlide2.xml" Id="R640e9d3cb4af4f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43819dd9c534836" /><Relationship Type="http://schemas.openxmlformats.org/officeDocument/2006/relationships/notesSlide" Target="/ppt/notesSlides/notesSlide3.xml" Id="R4ad272f87fbb4e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87c0301db2c4128" /><Relationship Type="http://schemas.openxmlformats.org/officeDocument/2006/relationships/notesSlide" Target="/ppt/notesSlides/notesSlide4.xml" Id="R9a97ead5bb5c4a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f3faccc2ca746c0" /><Relationship Type="http://schemas.openxmlformats.org/officeDocument/2006/relationships/notesSlide" Target="/ppt/notesSlides/notesSlide5.xml" Id="R3f1236e92d8442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c96fbec5a4c4b52" /><Relationship Type="http://schemas.openxmlformats.org/officeDocument/2006/relationships/notesSlide" Target="/ppt/notesSlides/notesSlide6.xml" Id="R87319b126b0646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f673a3b6cf24c7e" /><Relationship Type="http://schemas.openxmlformats.org/officeDocument/2006/relationships/notesSlide" Target="/ppt/notesSlides/notesSlide7.xml" Id="Rc7c742efdf814a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af2106cc07545e9" /><Relationship Type="http://schemas.openxmlformats.org/officeDocument/2006/relationships/notesSlide" Target="/ppt/notesSlides/notesSlide8.xml" Id="R445f977fe20e48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85548e187df4138" /><Relationship Type="http://schemas.openxmlformats.org/officeDocument/2006/relationships/notesSlide" Target="/ppt/notesSlides/notesSlide9.xml" Id="R6c0a1d1d828343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25be2c26e35470a" /><Relationship Type="http://schemas.openxmlformats.org/officeDocument/2006/relationships/notesSlide" Target="/ppt/notesSlides/notesSlide10.xml" Id="R8991fe9309f24c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546b58847e942ea" /><Relationship Type="http://schemas.openxmlformats.org/officeDocument/2006/relationships/notesSlide" Target="/ppt/notesSlides/notesSlide11.xml" Id="R9d4d628d97654a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9b010a052b14ee4" /><Relationship Type="http://schemas.openxmlformats.org/officeDocument/2006/relationships/notesSlide" Target="/ppt/notesSlides/notesSlide12.xml" Id="Rd257b055547e475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fbd976949f44d2d" /><Relationship Type="http://schemas.openxmlformats.org/officeDocument/2006/relationships/image" Target="/ppt/media/image4.png" Id="R7432e0369f7941c0" /><Relationship Type="http://schemas.openxmlformats.org/officeDocument/2006/relationships/notesSlide" Target="/ppt/notesSlides/notesSlide13.xml" Id="Ra16d743e9c2949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44bcc1479c644c8" /><Relationship Type="http://schemas.openxmlformats.org/officeDocument/2006/relationships/notesSlide" Target="/ppt/notesSlides/notesSlide14.xml" Id="R78597ff13a8e42a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a5a1ad5051b44af" /><Relationship Type="http://schemas.openxmlformats.org/officeDocument/2006/relationships/notesSlide" Target="/ppt/notesSlides/notesSlide15.xml" Id="R0e5ed8324ddf4b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2a3ad31ad6d43c7" /><Relationship Type="http://schemas.openxmlformats.org/officeDocument/2006/relationships/notesSlide" Target="/ppt/notesSlides/notesSlide16.xml" Id="R359f2ee48d6543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4">
            <a:extLst xmlns:a="http://schemas.openxmlformats.org/drawingml/2006/main">
              <a:ext uri="{FF2B5EF4-FFF2-40B4-BE49-F238E27FC236}">
                <a16:creationId xmlns:a16="http://schemas.microsoft.com/office/drawing/2014/main" id="{97EB7C73-D77C-4A60-B696-F7A744F9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150" y="1412050"/>
            <a:ext cx="6827700" cy="58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2400" b="1">
                <a:solidFill>
                  <a:srgbClr val="0B4FB3"/>
                </a:solidFill>
              </a:defRPr>
            </a:pPr>
            <a:r>
              <a:rPr sz="2400" b="1">
                <a:solidFill>
                  <a:srgbClr val="0B4FB3"/>
                </a:solidFill>
                <a:latin typeface="Nunito"/>
                <a:ea typeface="Nunito"/>
                <a:cs typeface="Nunito"/>
              </a:rPr>
              <a:t>MLOps Pipeline for Tourism Package Prediction</a:t>
            </a:r>
            <a:endParaRPr sz="3600" b="1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3" name="Google Shape;103;p24">
            <a:extLst xmlns:a="http://schemas.openxmlformats.org/drawingml/2006/main">
              <a:ext uri="{FF2B5EF4-FFF2-40B4-BE49-F238E27FC236}">
                <a16:creationId xmlns:a16="http://schemas.microsoft.com/office/drawing/2014/main" id="{1B5B9616-532C-440A-ACBA-D815BE17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038575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1725">
                <a:solidFill>
                  <a:srgbClr val="1B5FDB"/>
                </a:solidFill>
              </a:defRPr>
            </a:pPr>
            <a:r>
              <a:rPr sz="1725">
                <a:solidFill>
                  <a:srgbClr val="1B5FDB"/>
                </a:solidFill>
                <a:latin typeface="Nunito"/>
                <a:ea typeface="Nunito"/>
                <a:cs typeface="Nunito"/>
              </a:rPr>
              <a:t>Done by Mazin Alahmadi</a:t>
            </a:r>
            <a:endParaRPr sz="3000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4" name="Google Shape;104;p24">
            <a:extLst xmlns:a="http://schemas.openxmlformats.org/drawingml/2006/main">
              <a:ext uri="{FF2B5EF4-FFF2-40B4-BE49-F238E27FC236}">
                <a16:creationId xmlns:a16="http://schemas.microsoft.com/office/drawing/2014/main" id="{94C7792B-13A7-43A1-A8F5-31E1E36F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441950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050">
                <a:solidFill>
                  <a:srgbClr val="1B5FDB"/>
                </a:solidFill>
              </a:defRPr>
            </a:pPr>
            <a:r>
              <a:rPr sz="1050" b="0" i="0" u="none" cap="none">
                <a:solidFill>
                  <a:srgbClr val="1B5FDB"/>
                </a:solidFill>
                <a:latin typeface="Nunito"/>
                <a:ea typeface="Nunito"/>
                <a:cs typeface="Nunito"/>
              </a:rPr>
              <a:t>August 29, 2026</a:t>
            </a:r>
            <a:endParaRPr sz="1600" b="0" i="0" u="none" cap="none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11882262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25">
            <a:extLst xmlns:a="http://schemas.openxmlformats.org/drawingml/2006/main">
              <a:ext uri="{FF2B5EF4-FFF2-40B4-BE49-F238E27FC236}">
                <a16:creationId xmlns:a16="http://schemas.microsoft.com/office/drawing/2014/main" id="{FC55846E-11FC-4248-91C4-2C4F9201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Contents / Agenda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0" name="Google Shape;110;p25">
            <a:extLst xmlns:a="http://schemas.openxmlformats.org/drawingml/2006/main">
              <a:ext uri="{FF2B5EF4-FFF2-40B4-BE49-F238E27FC236}">
                <a16:creationId xmlns:a16="http://schemas.microsoft.com/office/drawing/2014/main" id="{CAB1838B-EA46-456A-B6AF-6E54CBC1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Executive summary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overview and solution approach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Data registration and preparation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Customer insights from tourism data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building, tracking, and performance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and automated GitHub workflow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 evidence, recommendations, and appendix</a:t>
            </a:r>
          </a:p>
        </p:txBody>
      </p:sp>
    </p:spTree>
    <p:extLst>
      <p:ext uri="{BB962C8B-B14F-4D97-AF65-F5344CB8AC3E}">
        <p14:creationId xmlns:p14="http://schemas.microsoft.com/office/powerpoint/2010/main" val="9183048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5" name="Google Shape;115;p26">
            <a:extLst xmlns:a="http://schemas.openxmlformats.org/drawingml/2006/main">
              <a:ext uri="{FF2B5EF4-FFF2-40B4-BE49-F238E27FC236}">
                <a16:creationId xmlns:a16="http://schemas.microsoft.com/office/drawing/2014/main" id="{208F9FBF-07C4-4C33-B456-4799B8D5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Executive Summary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6" name="Google Shape;116;p26">
            <a:extLst xmlns:a="http://schemas.openxmlformats.org/drawingml/2006/main">
              <a:ext uri="{FF2B5EF4-FFF2-40B4-BE49-F238E27FC236}">
                <a16:creationId xmlns:a16="http://schemas.microsoft.com/office/drawing/2014/main" id="{CEDDC716-271F-488E-891D-8F7B4C41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tourism campaign has a 19.3% package-purchase rate, so better targeting can materially improve sales productivity.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A completed MLOps pipeline now registers data, cleans and splits it, trains a tuned XGBoost model, and publishes a Hugging Face prediction app.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best local model achieved 91.3% test accuracy, 76.4% precision, 79.4% recall, and 77.8% F1 at the selected threshold.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recommendation: prioritize high-probability customers first, then monitor conversion lift through the automated workflow.</a:t>
            </a:r>
          </a:p>
        </p:txBody>
      </p:sp>
    </p:spTree>
    <p:extLst>
      <p:ext uri="{BB962C8B-B14F-4D97-AF65-F5344CB8AC3E}">
        <p14:creationId xmlns:p14="http://schemas.microsoft.com/office/powerpoint/2010/main" val="9980850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Business Overview and Solution Approach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problem: sales teams need to focus outreach on customers most likely to purchase a tourism package.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Decision lens: rank prospects before calling so high-fit customers receive faster and better-timed follow-up.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Solution: convert customer attributes into a purchase-probability score using a reproducible, deployment-ready ML workflow.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Operating model: GitHub controls source code, Hugging Face stores data/model/app assets, and GitHub Actions runs the pipeline end to end.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Registration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Master project folder: tourism_project with data, model_building, deployment, hosting, reports, and models subfolders.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Raw data asset: tourism_project/data/tourism.csv, documented with a dataset README for governance.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 target: 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script creates or reuses the dataset repo and uploads the raw dataset files.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the workflow has a single governed data source instead of manual file movement.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Preparation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Loaded the tourism dataset from Hugging Face when credentials are available, with local fallback for development.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Removed generated index/customer ID fields, removed duplicates, and standardized inconsistent categorical values.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Imputed missing numeric values with medians and categorical values with modes.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Created a stratified 80/20 split: 3,208 training rows and 803 testing rows.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Saved cleaned, train, and test files locally and prepared automatic upload back to the dataset repo.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Customer Insights That Drive Targeting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Base purchase rate: 19.3%, confirming the need for selective campaign prioritization.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Passport holders convert at 35.9% versus 12.4% for non-passport customers.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Basic package prospects convert at 30.1%, the strongest product segment in the dataset.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Single customers convert at 30.9%, more than double married and divorced segments.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Recommendation: combine model scores with these high-conversion segments for call-list prioritization.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29">
            <a:extLst xmlns:a="http://schemas.openxmlformats.org/drawingml/2006/main">
              <a:ext uri="{FF2B5EF4-FFF2-40B4-BE49-F238E27FC236}">
                <a16:creationId xmlns:a16="http://schemas.microsoft.com/office/drawing/2014/main" id="{A64EE7C2-5160-4A69-9F17-82DBBDB2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Model Building with Experimentation Tracking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35" name="Google Shape;135;p29">
            <a:extLst xmlns:a="http://schemas.openxmlformats.org/drawingml/2006/main">
              <a:ext uri="{FF2B5EF4-FFF2-40B4-BE49-F238E27FC236}">
                <a16:creationId xmlns:a16="http://schemas.microsoft.com/office/drawing/2014/main" id="{E0955BDD-47C7-459D-B7F7-C2237E57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choice: XGBoost classifier with preprocessing for numeric and categorical fields.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Class imbalance handled with scale_pos_weight so minority buyers are not ignored.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Grid search evaluated 48 parameter/run combinations using F1 as the selection metric.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MLflow logs parameters, metrics, artifacts, model path, and threshold analysis for comparison.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model is packaged for Hugging Face Model Hub target: mazin903/tourism-package-model</a:t>
            </a:r>
          </a:p>
        </p:txBody>
      </p:sp>
    </p:spTree>
    <p:extLst>
      <p:ext uri="{BB962C8B-B14F-4D97-AF65-F5344CB8AC3E}">
        <p14:creationId xmlns:p14="http://schemas.microsoft.com/office/powerpoint/2010/main" val="19179137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Model Performance and Decision Threshold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Selected threshold: 0.50, chosen for the best local F1 with a balanced precision/recall tradeoff.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Test performance: 91.3% accuracy, 76.4% precision, 79.4% recall, 77.8% F1.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meaning: most predicted buyers are actionable, while recall still captures nearly four out of five actual buyers.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Top signals: Passport, Basic package, Single marital status, Executive designation, and CityTier.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Operational use: score prospects, prioritize top-probability leads, and monitor uplift after deployment.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30">
            <a:extLst xmlns:a="http://schemas.openxmlformats.org/drawingml/2006/main">
              <a:ext uri="{FF2B5EF4-FFF2-40B4-BE49-F238E27FC236}">
                <a16:creationId xmlns:a16="http://schemas.microsoft.com/office/drawing/2014/main" id="{200045EF-1ACA-4A4E-B4D4-1C736E2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</a:rPr>
              <a:t>Model Deployment</a:t>
            </a:r>
            <a:endParaRPr sz="2200" b="1" i="0" u="none" cap="none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</a:endParaRPr>
          </a:p>
        </p:txBody>
      </p:sp>
      <p:sp>
        <p:nvSpPr>
          <p:cNvPr id="142" name="Google Shape;142;p30">
            <a:extLst xmlns:a="http://schemas.openxmlformats.org/drawingml/2006/main">
              <a:ext uri="{FF2B5EF4-FFF2-40B4-BE49-F238E27FC236}">
                <a16:creationId xmlns:a16="http://schemas.microsoft.com/office/drawing/2014/main" id="{6BFE5440-F81C-4808-AC7D-52985153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surface: Streamlit Community Cloud app, with Hugging Face hosting script and Space files retained for portability.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The app loads the registered model artifact from Hugging Face Model Hub.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User inputs are converted into the same feature schema used during model training.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Output: purchase probability, decision threshold, and a business-friendly follow-up recommendation.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Accepted deployment path: Streamlit app launched directly from the GitHub repository.</a:t>
            </a:r>
          </a:p>
        </p:txBody>
      </p:sp>
    </p:spTree>
    <p:extLst>
      <p:ext uri="{BB962C8B-B14F-4D97-AF65-F5344CB8AC3E}">
        <p14:creationId xmlns:p14="http://schemas.microsoft.com/office/powerpoint/2010/main" val="16262143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31">
            <a:extLst xmlns:a="http://schemas.openxmlformats.org/drawingml/2006/main">
              <a:ext uri="{FF2B5EF4-FFF2-40B4-BE49-F238E27FC236}">
                <a16:creationId xmlns:a16="http://schemas.microsoft.com/office/drawing/2014/main" id="{9A434EDF-9A69-423D-BB77-5862576C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298554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Automated GitHub Actions Workflow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48" name="Google Shape;148;p31">
            <a:extLst xmlns:a="http://schemas.openxmlformats.org/drawingml/2006/main">
              <a:ext uri="{FF2B5EF4-FFF2-40B4-BE49-F238E27FC236}">
                <a16:creationId xmlns:a16="http://schemas.microsoft.com/office/drawing/2014/main" id="{27436AE2-818D-4267-9901-14B08BD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50" y="10143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Trigger: push to main or manual workflow dispatch.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Pipeline steps: install dependencies, register dataset, clean/split data, generate analysis, train/register model, and deploy app.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Secrets and variables separate credentials from source code: HF_TOKEN, HF_USERNAME, dataset repo, model repo, and Space repo.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Generated processed data and reports are committed back to main with skip-ci protection.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one repeatable workflow replaces manual notebook-only execution.</a:t>
            </a:r>
          </a:p>
        </p:txBody>
      </p:sp>
    </p:spTree>
    <p:extLst>
      <p:ext uri="{BB962C8B-B14F-4D97-AF65-F5344CB8AC3E}">
        <p14:creationId xmlns:p14="http://schemas.microsoft.com/office/powerpoint/2010/main" val="6928067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32">
            <a:extLst xmlns:a="http://schemas.openxmlformats.org/drawingml/2006/main">
              <a:ext uri="{FF2B5EF4-FFF2-40B4-BE49-F238E27FC236}">
                <a16:creationId xmlns:a16="http://schemas.microsoft.com/office/drawing/2014/main" id="{D9C90942-4E94-4A01-9C1B-892F24EF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Output Evaluation Evidence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54" name="Google Shape;154;p32">
            <a:extLst xmlns:a="http://schemas.openxmlformats.org/drawingml/2006/main">
              <a:ext uri="{FF2B5EF4-FFF2-40B4-BE49-F238E27FC236}">
                <a16:creationId xmlns:a16="http://schemas.microsoft.com/office/drawing/2014/main" id="{30C29CA2-B20F-4D4B-B3DE-AD88B321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GitHub repository: https://github.com/mazin903/MLOps-pipeline-on-GitHub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dataset: https://huggingface.co/datasets/mazin903/tourism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model: https://huggingface.co/mazin903/tourism-package-model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Streamlit app deployment: Streamlit Community Cloud, using the GitHub repository and Hugging Face model.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prediction app backup: https://huggingface.co/spaces/mazin903/tourism-package-prediction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Screenshots to capture after first account run: repo folder structure, green GitHub Actions workflow, Hugging Face dataset/model pages, and prediction app result.</a:t>
            </a:r>
          </a:p>
        </p:txBody>
      </p:sp>
    </p:spTree>
    <p:extLst>
      <p:ext uri="{BB962C8B-B14F-4D97-AF65-F5344CB8AC3E}">
        <p14:creationId xmlns:p14="http://schemas.microsoft.com/office/powerpoint/2010/main" val="14972674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Google Shape;159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32e0369f7941c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2692825"/>
            <a:ext cx="8893198" cy="850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440965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p34">
            <a:extLst xmlns:a="http://schemas.openxmlformats.org/drawingml/2006/main">
              <a:ext uri="{FF2B5EF4-FFF2-40B4-BE49-F238E27FC236}">
                <a16:creationId xmlns:a16="http://schemas.microsoft.com/office/drawing/2014/main" id="{DE1ABB6C-4568-40B7-BF66-DB8B58B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Dataset Overview and Registration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65" name="Google Shape;165;p34">
            <a:extLst xmlns:a="http://schemas.openxmlformats.org/drawingml/2006/main">
              <a:ext uri="{FF2B5EF4-FFF2-40B4-BE49-F238E27FC236}">
                <a16:creationId xmlns:a16="http://schemas.microsoft.com/office/drawing/2014/main" id="{05D41B69-831C-456E-B430-C4FC9D0A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Source file: tourism.csv with customer demographics, interaction history, product pitch attributes, and purchase outcome.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Target variable: ProdTaken, where 1 means the customer purchased the package and 0 means they did not.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features include age, income, city tier, follow-ups, satisfaction, passport, car ownership, occupation, package pitched, and designation.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Processed outputs: cleaned_tourism.csv, Xtrain.csv, Xtest.csv, ytrain.csv, and ytest.csv.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plan: raw and processed files are uploaded to the Hugging Face dataset repo for reproducible downstream steps.</a:t>
            </a:r>
          </a:p>
        </p:txBody>
      </p:sp>
    </p:spTree>
    <p:extLst>
      <p:ext uri="{BB962C8B-B14F-4D97-AF65-F5344CB8AC3E}">
        <p14:creationId xmlns:p14="http://schemas.microsoft.com/office/powerpoint/2010/main" val="1896179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Experimentation Tracking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Algorithm: XGBoost classifier selected from the assignment-approved model family.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Tuning grid: n_estimators 100/200, max_depth 3/5, learning_rate 0.05/0.10, reg_lambda 1.0/5.0, colsample values 0.8.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parameters: n_estimators 200, max_depth 5, learning_rate 0.10, reg_lambda 1.0.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Tracked artifacts: metrics, classification report, threshold analysis, feature importance, and joblib model bundle.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Hub registration stores the trained model and model card for deployment reuse.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36">
            <a:extLst xmlns:a="http://schemas.openxmlformats.org/drawingml/2006/main">
              <a:ext uri="{FF2B5EF4-FFF2-40B4-BE49-F238E27FC236}">
                <a16:creationId xmlns:a16="http://schemas.microsoft.com/office/drawing/2014/main" id="{FA5B8316-8084-4E62-956A-B9CBEC9B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GitHub Actions Workflow Details</a:t>
            </a:r>
            <a:endParaRPr sz="2200" b="1" i="0" u="none" cap="none">
              <a:solidFill>
                <a:schemeClr val="dk1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7" name="Google Shape;177;p36">
            <a:extLst xmlns:a="http://schemas.openxmlformats.org/drawingml/2006/main">
              <a:ext uri="{FF2B5EF4-FFF2-40B4-BE49-F238E27FC236}">
                <a16:creationId xmlns:a16="http://schemas.microsoft.com/office/drawing/2014/main" id="{B91A998A-827F-4F0D-9099-8714A461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Repository-ready workflow: .github/workflows/pipeline.yml.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1: install Python dependencies and validate the project environment.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2: register raw data, prepare train/test assets, and generate business summary tables.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3: train the model, log results, and upload the best bundle to Hugging Face Model Hub.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4: push deployment files to Hugging Face Spaces and commit generated reports back to main.</a:t>
            </a:r>
          </a:p>
        </p:txBody>
      </p:sp>
    </p:spTree>
    <p:extLst>
      <p:ext uri="{BB962C8B-B14F-4D97-AF65-F5344CB8AC3E}">
        <p14:creationId xmlns:p14="http://schemas.microsoft.com/office/powerpoint/2010/main" val="193070001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2026-08-29T19:15:24.0910000Z</dcterms:created>
  <dcterms:modified xsi:type="dcterms:W3CDTF">2026-08-29T19:15:24.0910000Z</dcterms:modified>
</coreProperties>
</file>