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0b7650b5c24a07" /><Relationship Type="http://schemas.openxmlformats.org/officeDocument/2006/relationships/extended-properties" Target="/docProps/app.xml" Id="R171ab71976b74405" /><Relationship Type="http://schemas.openxmlformats.org/officeDocument/2006/relationships/officeDocument" Target="/ppt/presentation.xml" Id="R9eb5e0c11dba402b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0aba1b11a9d64f9f"/>
    <p:sldMasterId xmlns:r="http://schemas.openxmlformats.org/officeDocument/2006/relationships" id="2147483660" r:id="Reaf5e8f8ab654937"/>
  </p:sldMasterIdLst>
  <p:notesMasterIdLst>
    <p:notesMasterId xmlns:r="http://schemas.openxmlformats.org/officeDocument/2006/relationships" r:id="R746dfcb5e48447cc"/>
  </p:notesMasterIdLst>
  <p:sldIdLst>
    <p:sldId xmlns:r="http://schemas.openxmlformats.org/officeDocument/2006/relationships" id="256" r:id="R9de49475163c486b"/>
    <p:sldId xmlns:r="http://schemas.openxmlformats.org/officeDocument/2006/relationships" id="257" r:id="R72d98433ad914cf8"/>
    <p:sldId xmlns:r="http://schemas.openxmlformats.org/officeDocument/2006/relationships" id="258" r:id="R8f5b513de0364b0f"/>
    <p:sldId xmlns:r="http://schemas.openxmlformats.org/officeDocument/2006/relationships" id="259" r:id="Re397a97a4641416c"/>
    <p:sldId xmlns:r="http://schemas.openxmlformats.org/officeDocument/2006/relationships" id="260" r:id="R56fcd688c3d64933"/>
    <p:sldId xmlns:r="http://schemas.openxmlformats.org/officeDocument/2006/relationships" id="261" r:id="Rb8e3ac7d1f814e7c"/>
    <p:sldId xmlns:r="http://schemas.openxmlformats.org/officeDocument/2006/relationships" id="262" r:id="Refedeecfdfdd4658"/>
    <p:sldId xmlns:r="http://schemas.openxmlformats.org/officeDocument/2006/relationships" id="263" r:id="R33bb1919dfa54003"/>
    <p:sldId xmlns:r="http://schemas.openxmlformats.org/officeDocument/2006/relationships" id="264" r:id="R9fc633dc34d146e8"/>
    <p:sldId xmlns:r="http://schemas.openxmlformats.org/officeDocument/2006/relationships" id="265" r:id="Re4d389c74ad94e5b"/>
    <p:sldId xmlns:r="http://schemas.openxmlformats.org/officeDocument/2006/relationships" id="266" r:id="R755e4c1f86c145f1"/>
    <p:sldId xmlns:r="http://schemas.openxmlformats.org/officeDocument/2006/relationships" id="267" r:id="R538a516d70994754"/>
    <p:sldId xmlns:r="http://schemas.openxmlformats.org/officeDocument/2006/relationships" id="268" r:id="Re5600155523c4682"/>
    <p:sldId xmlns:r="http://schemas.openxmlformats.org/officeDocument/2006/relationships" id="269" r:id="Rcf1855c076bb4ecf"/>
    <p:sldId xmlns:r="http://schemas.openxmlformats.org/officeDocument/2006/relationships" id="270" r:id="Ra7ebb346ef294e73"/>
    <p:sldId xmlns:r="http://schemas.openxmlformats.org/officeDocument/2006/relationships" id="271" r:id="R8710197082414c32"/>
  </p:sldIdLst>
  <p:sldSz cx="9144000" cy="5143500"/>
  <p:notesSz cx="6858000" cy="9144000"/>
  <p:embeddedFontLst>
    <p:embeddedFont>
      <p:font typeface="Nunito SemiBold"/>
      <p:regular xmlns:r="http://schemas.openxmlformats.org/officeDocument/2006/relationships" r:id="Re905cf3332df4ae9"/>
      <p:bold xmlns:r="http://schemas.openxmlformats.org/officeDocument/2006/relationships" r:id="R4a6739e7ae3a433b"/>
      <p:italic xmlns:r="http://schemas.openxmlformats.org/officeDocument/2006/relationships" r:id="R24ba4534808d4c49"/>
      <p:boldItalic xmlns:r="http://schemas.openxmlformats.org/officeDocument/2006/relationships" r:id="R8c466b2471874306"/>
    </p:embeddedFont>
    <p:embeddedFont>
      <p:font typeface="Nunito"/>
      <p:regular xmlns:r="http://schemas.openxmlformats.org/officeDocument/2006/relationships" r:id="R1134dd2e46164822"/>
      <p:bold xmlns:r="http://schemas.openxmlformats.org/officeDocument/2006/relationships" r:id="R1b143b8f69a44e45"/>
      <p:italic xmlns:r="http://schemas.openxmlformats.org/officeDocument/2006/relationships" r:id="R44c11e4098a14a37"/>
      <p:boldItalic xmlns:r="http://schemas.openxmlformats.org/officeDocument/2006/relationships" r:id="R26f0e551679f4e26"/>
    </p:embeddedFont>
    <p:embeddedFont>
      <p:font typeface="Nunito ExtraBold"/>
      <p:bold xmlns:r="http://schemas.openxmlformats.org/officeDocument/2006/relationships" r:id="R7ace0557626f419a"/>
      <p:boldItalic xmlns:r="http://schemas.openxmlformats.org/officeDocument/2006/relationships" r:id="Ra4f51b829c914f6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7C2EA955-FAA9-4741-80A4-FAB2EC53E622}">
  <a:tblStyle styleId="{7C2EA955-FAA9-4741-80A4-FAB2EC53E6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rgbClr val="5B9BD5">
              <a:alpha val="20000"/>
            </a:srgbClr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5B9BD5">
              <a:alpha val="20000"/>
            </a:srgb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w="12700" cap="flat" cmpd="sng">
              <a:solidFill>
                <a:srgbClr val="5B9BD5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fd66273153c49e8" /><Relationship Type="http://schemas.openxmlformats.org/officeDocument/2006/relationships/slideMaster" Target="/ppt/slideMasters/slideMaster1.xml" Id="R0aba1b11a9d64f9f" /><Relationship Type="http://schemas.openxmlformats.org/officeDocument/2006/relationships/slideMaster" Target="/ppt/slideMasters/slideMaster2.xml" Id="Reaf5e8f8ab654937" /><Relationship Type="http://schemas.openxmlformats.org/officeDocument/2006/relationships/notesMaster" Target="/ppt/notesMasters/notesMaster1.xml" Id="R746dfcb5e48447cc" /><Relationship Type="http://schemas.openxmlformats.org/officeDocument/2006/relationships/presProps" Target="/ppt/presProps.xml" Id="R5d31fb23fb0c4e04" /><Relationship Type="http://schemas.openxmlformats.org/officeDocument/2006/relationships/viewProps" Target="/ppt/viewProps.xml" Id="R6eb2497715534010" /><Relationship Type="http://schemas.openxmlformats.org/officeDocument/2006/relationships/tableStyles" Target="/ppt/tableStyles.xml" Id="Re7fd7a80839f4f48" /><Relationship Type="http://schemas.openxmlformats.org/officeDocument/2006/relationships/font" Target="/ppt/fonts/font.dat" Id="Re905cf3332df4ae9" /><Relationship Type="http://schemas.openxmlformats.org/officeDocument/2006/relationships/font" Target="/ppt/fonts/font2.dat" Id="R4a6739e7ae3a433b" /><Relationship Type="http://schemas.openxmlformats.org/officeDocument/2006/relationships/font" Target="/ppt/fonts/font3.dat" Id="R24ba4534808d4c49" /><Relationship Type="http://schemas.openxmlformats.org/officeDocument/2006/relationships/font" Target="/ppt/fonts/font4.dat" Id="R8c466b2471874306" /><Relationship Type="http://schemas.openxmlformats.org/officeDocument/2006/relationships/font" Target="/ppt/fonts/font5.dat" Id="R1134dd2e46164822" /><Relationship Type="http://schemas.openxmlformats.org/officeDocument/2006/relationships/font" Target="/ppt/fonts/font6.dat" Id="R1b143b8f69a44e45" /><Relationship Type="http://schemas.openxmlformats.org/officeDocument/2006/relationships/font" Target="/ppt/fonts/font7.dat" Id="R44c11e4098a14a37" /><Relationship Type="http://schemas.openxmlformats.org/officeDocument/2006/relationships/font" Target="/ppt/fonts/font8.dat" Id="R26f0e551679f4e26" /><Relationship Type="http://schemas.openxmlformats.org/officeDocument/2006/relationships/font" Target="/ppt/fonts/font9.dat" Id="R7ace0557626f419a" /><Relationship Type="http://schemas.openxmlformats.org/officeDocument/2006/relationships/font" Target="/ppt/fonts/font10.dat" Id="Ra4f51b829c914f6d" /><Relationship Type="http://schemas.openxmlformats.org/officeDocument/2006/relationships/slide" Target="/ppt/slides/slide1.xml" Id="R9de49475163c486b" /><Relationship Type="http://schemas.openxmlformats.org/officeDocument/2006/relationships/slide" Target="/ppt/slides/slide2.xml" Id="R72d98433ad914cf8" /><Relationship Type="http://schemas.openxmlformats.org/officeDocument/2006/relationships/slide" Target="/ppt/slides/slide3.xml" Id="R8f5b513de0364b0f" /><Relationship Type="http://schemas.openxmlformats.org/officeDocument/2006/relationships/slide" Target="/ppt/slides/slide4.xml" Id="Re397a97a4641416c" /><Relationship Type="http://schemas.openxmlformats.org/officeDocument/2006/relationships/slide" Target="/ppt/slides/slide5.xml" Id="R56fcd688c3d64933" /><Relationship Type="http://schemas.openxmlformats.org/officeDocument/2006/relationships/slide" Target="/ppt/slides/slide6.xml" Id="Rb8e3ac7d1f814e7c" /><Relationship Type="http://schemas.openxmlformats.org/officeDocument/2006/relationships/slide" Target="/ppt/slides/slide7.xml" Id="Refedeecfdfdd4658" /><Relationship Type="http://schemas.openxmlformats.org/officeDocument/2006/relationships/slide" Target="/ppt/slides/slide8.xml" Id="R33bb1919dfa54003" /><Relationship Type="http://schemas.openxmlformats.org/officeDocument/2006/relationships/slide" Target="/ppt/slides/slide9.xml" Id="R9fc633dc34d146e8" /><Relationship Type="http://schemas.openxmlformats.org/officeDocument/2006/relationships/slide" Target="/ppt/slides/slide10.xml" Id="Re4d389c74ad94e5b" /><Relationship Type="http://schemas.openxmlformats.org/officeDocument/2006/relationships/slide" Target="/ppt/slides/slide11.xml" Id="R755e4c1f86c145f1" /><Relationship Type="http://schemas.openxmlformats.org/officeDocument/2006/relationships/slide" Target="/ppt/slides/slide12.xml" Id="R538a516d70994754" /><Relationship Type="http://schemas.openxmlformats.org/officeDocument/2006/relationships/slide" Target="/ppt/slides/slide13.xml" Id="Re5600155523c4682" /><Relationship Type="http://schemas.openxmlformats.org/officeDocument/2006/relationships/slide" Target="/ppt/slides/slide14.xml" Id="Rcf1855c076bb4ecf" /><Relationship Type="http://schemas.openxmlformats.org/officeDocument/2006/relationships/slide" Target="/ppt/slides/slide15.xml" Id="Ra7ebb346ef294e73" /><Relationship Type="http://schemas.openxmlformats.org/officeDocument/2006/relationships/slide" Target="/ppt/slides/slide16.xml" Id="R8710197082414c3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0a9f1e3479dd469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039285609534f45" /><Relationship Type="http://schemas.openxmlformats.org/officeDocument/2006/relationships/notesMaster" Target="/ppt/notesMasters/notesMaster1.xml" Id="R8024404c003148d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793c8213c04b02" /><Relationship Type="http://schemas.openxmlformats.org/officeDocument/2006/relationships/notesMaster" Target="/ppt/notesMasters/notesMaster1.xml" Id="R26fae631442142a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3587dc5fe364904" /><Relationship Type="http://schemas.openxmlformats.org/officeDocument/2006/relationships/notesMaster" Target="/ppt/notesMasters/notesMaster1.xml" Id="R07cb3954290e4a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b1ff7623b8d4891" /><Relationship Type="http://schemas.openxmlformats.org/officeDocument/2006/relationships/notesMaster" Target="/ppt/notesMasters/notesMaster1.xml" Id="Rea4bac9d7a634f8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5b6691031db4de3" /><Relationship Type="http://schemas.openxmlformats.org/officeDocument/2006/relationships/notesMaster" Target="/ppt/notesMasters/notesMaster1.xml" Id="R657658f8b7a84a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5cd03e45414f32" /><Relationship Type="http://schemas.openxmlformats.org/officeDocument/2006/relationships/notesMaster" Target="/ppt/notesMasters/notesMaster1.xml" Id="R504ed20c32414ff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3cc737031c543dc" /><Relationship Type="http://schemas.openxmlformats.org/officeDocument/2006/relationships/notesMaster" Target="/ppt/notesMasters/notesMaster1.xml" Id="Rcf38f99c9a804a2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f8f7bb84dbf440b" /><Relationship Type="http://schemas.openxmlformats.org/officeDocument/2006/relationships/notesMaster" Target="/ppt/notesMasters/notesMaster1.xml" Id="R0ec2dc27873d42e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610850ad6342c3" /><Relationship Type="http://schemas.openxmlformats.org/officeDocument/2006/relationships/notesMaster" Target="/ppt/notesMasters/notesMaster1.xml" Id="Rcc8980c71c14476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8c20a9e53a84808" /><Relationship Type="http://schemas.openxmlformats.org/officeDocument/2006/relationships/notesMaster" Target="/ppt/notesMasters/notesMaster1.xml" Id="R32adf831444645c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440101058504972" /><Relationship Type="http://schemas.openxmlformats.org/officeDocument/2006/relationships/notesMaster" Target="/ppt/notesMasters/notesMaster1.xml" Id="R0e58c84f4973452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8e8275d5e26481a" /><Relationship Type="http://schemas.openxmlformats.org/officeDocument/2006/relationships/notesMaster" Target="/ppt/notesMasters/notesMaster1.xml" Id="R8079ba7b26bc499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b6bc946283fd4179" /><Relationship Type="http://schemas.openxmlformats.org/officeDocument/2006/relationships/notesMaster" Target="/ppt/notesMasters/notesMaster1.xml" Id="Rcfcc9e85cf164a45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a549416626784c12" /><Relationship Type="http://schemas.openxmlformats.org/officeDocument/2006/relationships/notesMaster" Target="/ppt/notesMasters/notesMaster1.xml" Id="Re4c9432dde4c4b3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6e65618b56741ad" /><Relationship Type="http://schemas.openxmlformats.org/officeDocument/2006/relationships/notesMaster" Target="/ppt/notesMasters/notesMaster1.xml" Id="R1feb63454fae491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1ebf4e83cf7418d" /><Relationship Type="http://schemas.openxmlformats.org/officeDocument/2006/relationships/notesMaster" Target="/ppt/notesMasters/notesMaster1.xml" Id="Rfe19aa3dbf9e4a7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assignment context and presentation audience.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required MLOps evidence areas.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User instruction: cover name spelling confirmed as Mazin Alahmadi.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visible deck should focus on business analysis, not code.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agenda mirrors scoring categories.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tourism_project/reports/business_summary.json: 4,011 customers, 774 buyers, 19.3%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local test metrics from the trained model.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model training and threshold selection.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prompt.extracted.txt: prepare business overview, solution approach, insights, recommendations, and benefits.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GitHub, Hugging Face, deployment, and workflow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tourism_project/model_building/data_register.py: dataset repository creation and raw data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tourism_project/data/README.md: dataset card content.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Data Registration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tourism_project/model_building/prep.py: data loading, cleaning, splitting, and processed upload logic.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tourism_project/data/processed/*.csv: generated cleaned, train, and test files.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Data Preparation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tourism_project/reports/business_summary.json: base conversion and summarized takeaways.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tourism_project/reports/conversion_by_Passport.csv: passport segment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tourism_project/reports/conversion_by_ProductPitched.csv: product segment conversion.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tourism_project/reports/conversion_by_MaritalStatus.csv: marital-status segment conversion.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preprocessing, XGBoost training, grid search, MLflow logging, and model packaging.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model performance.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tourism_project/model_building/model_card.md: Model Hub documentation.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tourism_project/reports/threshold_analysis.csv: threshold comparison table.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selected-threshold test metrics.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tourism_project/reports/feature_importance.csv: top model drivers.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tourism_project/deployment/app.py: Streamlit scoring app and model download logic.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tourism_project/deployment/Dockerfile: container configuration.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tourism_project/hosting/hosting.py: Hugging Face Space upload script.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Deployment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.github/workflows/pipeline.yml: GitHub Actions pipeline definition.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.env.example: required environment variables.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GitHub Actions scoring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Output Evaluation requires links and screenshots.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README.md: local run, Colab run, account setup, and repository structure.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Pending user inputs: final GitHub repository full name and Hugging Face username.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Source slide 10 preserved as the appendix divider.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tourism_project/config.py: feature lists and target variable.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tourism_project/data/README.md: dataset documentation.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tourism_project/model_building/prep.py: generated processed outputs.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tourism_project/model_building/train.py: approved algorithm, tuning grid, MLflow logging, and model hub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tourism_project/reports/metrics.json: evaluation metrics.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tourism_project/reports/feature_importance.csv: feature importance outputs.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[Sources]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.github/workflows/pipeline.yml: CI/CD implementation.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tourism_project/hosting/hosting.py: deployment upload.</a:t>
            </a:r>
            <a:endParaRPr/>
          </a:p>
          <a:p xmlns:a="http://schemas.openxmlformats.org/drawingml/2006/main"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>- criteria rubrics.extracted.txt: workflow evidence and automatic push-back requirements.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f7fc98e51d47c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89dfd483f0434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c5af9ded65490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d5579a35874b1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bdf7864dd4449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d7d3a792b492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e5f24e45724cd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5696c8a0ca04dc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fa69a3efca4657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07f35fa732496e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a85cf863b7424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9eb3ae5f8fd423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583b25a3a9084212" /><Relationship Type="http://schemas.openxmlformats.org/officeDocument/2006/relationships/image" Target="/ppt/media/image2.png" Id="R61933f65c03d4066" /><Relationship Type="http://schemas.openxmlformats.org/officeDocument/2006/relationships/image" Target="/ppt/media/image3.png" Id="Rcaa32d713922459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41d2d257d53e45d5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01bd40106bd546f2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11bc84235a3d41f5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48f406aebbc42c9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36a1dce9226e400f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a4722bba1e24459e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b31fe11598b24cbf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c98bb3a4dd2449c6" /></Relationships>
</file>

<file path=ppt/slideLayouts/slideLayout1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2">
            <a:extLst xmlns:a="http://schemas.openxmlformats.org/drawingml/2006/main">
              <a:ext uri="{FF2B5EF4-FFF2-40B4-BE49-F238E27FC236}">
                <a16:creationId xmlns:a16="http://schemas.microsoft.com/office/drawing/2014/main" id="{397FC1AC-25DC-46F0-96CC-2A652277F92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311708" y="744575"/>
            <a:ext cx="8520600" cy="20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 xmlns:a="http://schemas.openxmlformats.org/drawingml/2006/main"/>
        </p:txBody>
      </p:sp>
      <p:sp>
        <p:nvSpPr>
          <p:cNvPr id="11" name="Google Shape;11;p2">
            <a:extLst xmlns:a="http://schemas.openxmlformats.org/drawingml/2006/main">
              <a:ext uri="{FF2B5EF4-FFF2-40B4-BE49-F238E27FC236}">
                <a16:creationId xmlns:a16="http://schemas.microsoft.com/office/drawing/2014/main" id="{E324E1F2-F052-4C24-A0AA-C0E726D224F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11700" y="2834125"/>
            <a:ext cx="8520600" cy="79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 xmlns:a="http://schemas.openxmlformats.org/drawingml/2006/main"/>
        </p:txBody>
      </p:sp>
      <p:sp>
        <p:nvSpPr>
          <p:cNvPr id="12" name="Google Shape;12;p2">
            <a:extLst xmlns:a="http://schemas.openxmlformats.org/drawingml/2006/main">
              <a:ext uri="{FF2B5EF4-FFF2-40B4-BE49-F238E27FC236}">
                <a16:creationId xmlns:a16="http://schemas.microsoft.com/office/drawing/2014/main" id="{B78FCD01-4E7D-43F9-96F1-64CE403A25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Google Shape;14;p3">
            <a:extLst xmlns:a="http://schemas.openxmlformats.org/drawingml/2006/main">
              <a:ext uri="{FF2B5EF4-FFF2-40B4-BE49-F238E27FC236}">
                <a16:creationId xmlns:a16="http://schemas.microsoft.com/office/drawing/2014/main" id="{2556162A-2B5D-4C99-8C0F-5D188F69B3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 xmlns:a="http://schemas.openxmlformats.org/drawingml/2006/main"/>
        </p:txBody>
      </p:sp>
      <p:sp>
        <p:nvSpPr>
          <p:cNvPr id="15" name="Google Shape;15;p3">
            <a:extLst xmlns:a="http://schemas.openxmlformats.org/drawingml/2006/main">
              <a:ext uri="{FF2B5EF4-FFF2-40B4-BE49-F238E27FC236}">
                <a16:creationId xmlns:a16="http://schemas.microsoft.com/office/drawing/2014/main" id="{B246473B-90B9-4D97-B99D-0299003E488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Google Shape;17;p4">
            <a:extLst xmlns:a="http://schemas.openxmlformats.org/drawingml/2006/main">
              <a:ext uri="{FF2B5EF4-FFF2-40B4-BE49-F238E27FC236}">
                <a16:creationId xmlns:a16="http://schemas.microsoft.com/office/drawing/2014/main" id="{805BAA5F-9955-4159-B9ED-F192C7501E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18" name="Google Shape;18;p4">
            <a:extLst xmlns:a="http://schemas.openxmlformats.org/drawingml/2006/main">
              <a:ext uri="{FF2B5EF4-FFF2-40B4-BE49-F238E27FC236}">
                <a16:creationId xmlns:a16="http://schemas.microsoft.com/office/drawing/2014/main" id="{0EEDE71D-EA1A-433C-BEAB-848884CF34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19" name="Google Shape;19;p4">
            <a:extLst xmlns:a="http://schemas.openxmlformats.org/drawingml/2006/main">
              <a:ext uri="{FF2B5EF4-FFF2-40B4-BE49-F238E27FC236}">
                <a16:creationId xmlns:a16="http://schemas.microsoft.com/office/drawing/2014/main" id="{34F00358-3E15-49A1-A9FC-D1C243EADEF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Google Shape;21;p5">
            <a:extLst xmlns:a="http://schemas.openxmlformats.org/drawingml/2006/main">
              <a:ext uri="{FF2B5EF4-FFF2-40B4-BE49-F238E27FC236}">
                <a16:creationId xmlns:a16="http://schemas.microsoft.com/office/drawing/2014/main" id="{DA318160-EF8A-482E-A872-F6A79A3343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2" name="Google Shape;22;p5">
            <a:extLst xmlns:a="http://schemas.openxmlformats.org/drawingml/2006/main">
              <a:ext uri="{FF2B5EF4-FFF2-40B4-BE49-F238E27FC236}">
                <a16:creationId xmlns:a16="http://schemas.microsoft.com/office/drawing/2014/main" id="{95DA7323-ED3E-45C2-AE33-3E6705DB41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3" name="Google Shape;23;p5">
            <a:extLst xmlns:a="http://schemas.openxmlformats.org/drawingml/2006/main">
              <a:ext uri="{FF2B5EF4-FFF2-40B4-BE49-F238E27FC236}">
                <a16:creationId xmlns:a16="http://schemas.microsoft.com/office/drawing/2014/main" id="{61613E98-082F-42B8-B0DA-4DD212C9D89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24" name="Google Shape;24;p5">
            <a:extLst xmlns:a="http://schemas.openxmlformats.org/drawingml/2006/main">
              <a:ext uri="{FF2B5EF4-FFF2-40B4-BE49-F238E27FC236}">
                <a16:creationId xmlns:a16="http://schemas.microsoft.com/office/drawing/2014/main" id="{679412A7-02B6-412E-AD7F-D71A82A732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Google Shape;26;p6">
            <a:extLst xmlns:a="http://schemas.openxmlformats.org/drawingml/2006/main">
              <a:ext uri="{FF2B5EF4-FFF2-40B4-BE49-F238E27FC236}">
                <a16:creationId xmlns:a16="http://schemas.microsoft.com/office/drawing/2014/main" id="{54D3E247-556A-4BBA-AF5D-3CE7E3B1F5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 xmlns:a="http://schemas.openxmlformats.org/drawingml/2006/main"/>
        </p:txBody>
      </p:sp>
      <p:sp>
        <p:nvSpPr>
          <p:cNvPr id="27" name="Google Shape;27;p6">
            <a:extLst xmlns:a="http://schemas.openxmlformats.org/drawingml/2006/main">
              <a:ext uri="{FF2B5EF4-FFF2-40B4-BE49-F238E27FC236}">
                <a16:creationId xmlns:a16="http://schemas.microsoft.com/office/drawing/2014/main" id="{39473B15-935E-4D52-B991-A92CE06431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Google Shape;29;p7">
            <a:extLst xmlns:a="http://schemas.openxmlformats.org/drawingml/2006/main">
              <a:ext uri="{FF2B5EF4-FFF2-40B4-BE49-F238E27FC236}">
                <a16:creationId xmlns:a16="http://schemas.microsoft.com/office/drawing/2014/main" id="{929D6711-0D70-4A1D-8BEC-E75136663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555600"/>
            <a:ext cx="2808000" cy="755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 xmlns:a="http://schemas.openxmlformats.org/drawingml/2006/main"/>
        </p:txBody>
      </p:sp>
      <p:sp>
        <p:nvSpPr>
          <p:cNvPr id="30" name="Google Shape;30;p7">
            <a:extLst xmlns:a="http://schemas.openxmlformats.org/drawingml/2006/main">
              <a:ext uri="{FF2B5EF4-FFF2-40B4-BE49-F238E27FC236}">
                <a16:creationId xmlns:a16="http://schemas.microsoft.com/office/drawing/2014/main" id="{7DAD4E78-3171-4984-AAF2-742847487A9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389600"/>
            <a:ext cx="2808000" cy="3179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31" name="Google Shape;31;p7">
            <a:extLst xmlns:a="http://schemas.openxmlformats.org/drawingml/2006/main">
              <a:ext uri="{FF2B5EF4-FFF2-40B4-BE49-F238E27FC236}">
                <a16:creationId xmlns:a16="http://schemas.microsoft.com/office/drawing/2014/main" id="{9201E891-4299-48D8-96BB-BEB87D7E119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Google Shape;33;p8">
            <a:extLst xmlns:a="http://schemas.openxmlformats.org/drawingml/2006/main">
              <a:ext uri="{FF2B5EF4-FFF2-40B4-BE49-F238E27FC236}">
                <a16:creationId xmlns:a16="http://schemas.microsoft.com/office/drawing/2014/main" id="{ACDA31A1-BA68-4F3B-BDF7-E0D8635749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34" name="Google Shape;34;p8">
            <a:extLst xmlns:a="http://schemas.openxmlformats.org/drawingml/2006/main">
              <a:ext uri="{FF2B5EF4-FFF2-40B4-BE49-F238E27FC236}">
                <a16:creationId xmlns:a16="http://schemas.microsoft.com/office/drawing/2014/main" id="{9031AB7A-B788-488D-9B15-B4FCBEC3315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Google Shape;36;p9">
            <a:extLst xmlns:a="http://schemas.openxmlformats.org/drawingml/2006/main">
              <a:ext uri="{FF2B5EF4-FFF2-40B4-BE49-F238E27FC236}">
                <a16:creationId xmlns:a16="http://schemas.microsoft.com/office/drawing/2014/main" id="{B2DB13A5-6E78-4691-B497-7A4528D7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>
            <a:extLst xmlns:a="http://schemas.openxmlformats.org/drawingml/2006/main">
              <a:ext uri="{FF2B5EF4-FFF2-40B4-BE49-F238E27FC236}">
                <a16:creationId xmlns:a16="http://schemas.microsoft.com/office/drawing/2014/main" id="{5AA03E8B-6F12-4D64-A46E-282D780296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38" name="Google Shape;38;p9">
            <a:extLst xmlns:a="http://schemas.openxmlformats.org/drawingml/2006/main">
              <a:ext uri="{FF2B5EF4-FFF2-40B4-BE49-F238E27FC236}">
                <a16:creationId xmlns:a16="http://schemas.microsoft.com/office/drawing/2014/main" id="{8BF9C787-EACE-4906-B76D-B6C4355C89A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39" name="Google Shape;39;p9">
            <a:extLst xmlns:a="http://schemas.openxmlformats.org/drawingml/2006/main">
              <a:ext uri="{FF2B5EF4-FFF2-40B4-BE49-F238E27FC236}">
                <a16:creationId xmlns:a16="http://schemas.microsoft.com/office/drawing/2014/main" id="{BFD0EE2D-E225-416B-853A-8DEBF7567F3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0" name="Google Shape;40;p9">
            <a:extLst xmlns:a="http://schemas.openxmlformats.org/drawingml/2006/main">
              <a:ext uri="{FF2B5EF4-FFF2-40B4-BE49-F238E27FC236}">
                <a16:creationId xmlns:a16="http://schemas.microsoft.com/office/drawing/2014/main" id="{5F908037-37F3-4000-A9C4-942F988F492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Google Shape;42;p10">
            <a:extLst xmlns:a="http://schemas.openxmlformats.org/drawingml/2006/main">
              <a:ext uri="{FF2B5EF4-FFF2-40B4-BE49-F238E27FC236}">
                <a16:creationId xmlns:a16="http://schemas.microsoft.com/office/drawing/2014/main" id="{75152DF0-6E86-43E8-8EC9-55E54B11959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4230575"/>
            <a:ext cx="5998800" cy="605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 xmlns:a="http://schemas.openxmlformats.org/drawingml/2006/main"/>
        </p:txBody>
      </p:sp>
      <p:sp>
        <p:nvSpPr>
          <p:cNvPr id="43" name="Google Shape;43;p10">
            <a:extLst xmlns:a="http://schemas.openxmlformats.org/drawingml/2006/main">
              <a:ext uri="{FF2B5EF4-FFF2-40B4-BE49-F238E27FC236}">
                <a16:creationId xmlns:a16="http://schemas.microsoft.com/office/drawing/2014/main" id="{70086186-FE6E-4FE6-821B-FF093B84667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Google Shape;45;p11">
            <a:extLst xmlns:a="http://schemas.openxmlformats.org/drawingml/2006/main">
              <a:ext uri="{FF2B5EF4-FFF2-40B4-BE49-F238E27FC236}">
                <a16:creationId xmlns:a16="http://schemas.microsoft.com/office/drawing/2014/main" id="{F87C8D79-AEBD-4C12-9C84-10B3B6C1B881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311700" y="1106125"/>
            <a:ext cx="8520600" cy="1963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b">
            <a:normAutofit/>
          </a:bodyPr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 xmlns:a="http://schemas.openxmlformats.org/drawingml/2006/main">
            <a:r>
              <a:t>xx%</a:t>
            </a:r>
          </a:p>
        </p:txBody>
      </p:sp>
      <p:sp>
        <p:nvSpPr>
          <p:cNvPr id="46" name="Google Shape;46;p11">
            <a:extLst xmlns:a="http://schemas.openxmlformats.org/drawingml/2006/main">
              <a:ext uri="{FF2B5EF4-FFF2-40B4-BE49-F238E27FC236}">
                <a16:creationId xmlns:a16="http://schemas.microsoft.com/office/drawing/2014/main" id="{47F4E37F-311D-4823-B027-F3FF7EF9D3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3152225"/>
            <a:ext cx="8520600" cy="1300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47" name="Google Shape;47;p11">
            <a:extLst xmlns:a="http://schemas.openxmlformats.org/drawingml/2006/main">
              <a:ext uri="{FF2B5EF4-FFF2-40B4-BE49-F238E27FC236}">
                <a16:creationId xmlns:a16="http://schemas.microsoft.com/office/drawing/2014/main" id="{5C4C66F7-7701-43BA-B626-EC3661C0F3A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Google Shape;49;p12">
            <a:extLst xmlns:a="http://schemas.openxmlformats.org/drawingml/2006/main">
              <a:ext uri="{FF2B5EF4-FFF2-40B4-BE49-F238E27FC236}">
                <a16:creationId xmlns:a16="http://schemas.microsoft.com/office/drawing/2014/main" id="{A09839EE-9729-4144-BD45-EC93E189A8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0" name="Google Shape;60;p14">
            <a:extLst xmlns:a="http://schemas.openxmlformats.org/drawingml/2006/main">
              <a:ext uri="{FF2B5EF4-FFF2-40B4-BE49-F238E27FC236}">
                <a16:creationId xmlns:a16="http://schemas.microsoft.com/office/drawing/2014/main" id="{6492E472-E765-4C14-BD4A-E132DF547CE9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2210208" y="744575"/>
            <a:ext cx="6622200" cy="205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4800"/>
              <a:buFont typeface="Nunito"/>
              <a:buNone/>
              <a:defRPr sz="4800">
                <a:solidFill>
                  <a:srgbClr val="0E39A9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61" name="Google Shape;61;p14">
            <a:extLst xmlns:a="http://schemas.openxmlformats.org/drawingml/2006/main">
              <a:ext uri="{FF2B5EF4-FFF2-40B4-BE49-F238E27FC236}">
                <a16:creationId xmlns:a16="http://schemas.microsoft.com/office/drawing/2014/main" id="{306B3743-21D0-4666-BD82-D5B78FDD5B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210202" y="2834125"/>
            <a:ext cx="6622200" cy="792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600"/>
              <a:buFont typeface="Nunito SemiBold"/>
              <a:buNone/>
              <a:defRPr sz="2600" b="1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13.xml><?xml version="1.0" encoding="utf-8"?>
<p:sldLayout xmlns:p="http://schemas.openxmlformats.org/presentationml/2006/main" matchingName="Blank 1">
  <p:cSld name="BLANK_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15">
            <a:extLst xmlns:a="http://schemas.openxmlformats.org/drawingml/2006/main">
              <a:ext uri="{FF2B5EF4-FFF2-40B4-BE49-F238E27FC236}">
                <a16:creationId xmlns:a16="http://schemas.microsoft.com/office/drawing/2014/main" id="{D02ACAC4-623F-4E66-BB2F-2E72A7034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" y="-335"/>
            <a:ext cx="9144600" cy="5143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9A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chemeClr val="dk1"/>
              </a:solidFill>
              <a:latin typeface="Calibri"/>
              <a:ea typeface="Calibri"/>
              <a:cs typeface="Calibri"/>
            </a:endParaRPr>
          </a:p>
        </p:txBody>
      </p:sp>
      <p:pic>
        <p:nvPicPr>
          <p:cNvPr id="70" name="Google Shape;64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933f65c03d4066">
            <a:alphaModFix/>
          </a:blip>
          <a:srcRect xmlns:a="http://schemas.openxmlformats.org/drawingml/2006/main" l="42816" t="18359" r="37297" b="19152"/>
          <a:stretch xmlns:a="http://schemas.openxmlformats.org/drawingml/2006/main"/>
        </p:blipFill>
        <p:spPr>
          <a:xfrm xmlns:a="http://schemas.openxmlformats.org/drawingml/2006/main">
            <a:off x="6052536" y="514443"/>
            <a:ext cx="2095112" cy="370332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65" name="Google Shape;65;p15">
            <a:extLst xmlns:a="http://schemas.openxmlformats.org/drawingml/2006/main">
              <a:ext uri="{FF2B5EF4-FFF2-40B4-BE49-F238E27FC236}">
                <a16:creationId xmlns:a16="http://schemas.microsoft.com/office/drawing/2014/main" id="{ABBA9FE9-D46A-4ABA-980B-805543E09EC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0129" y="6703219"/>
            <a:ext cx="15008700" cy="69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12850" rIns="0" bIns="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4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11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66" name="Google Shape;66;p15">
            <a:extLst xmlns:a="http://schemas.openxmlformats.org/drawingml/2006/main">
              <a:ext uri="{FF2B5EF4-FFF2-40B4-BE49-F238E27FC236}">
                <a16:creationId xmlns:a16="http://schemas.microsoft.com/office/drawing/2014/main" id="{E2147B1C-C98C-4443-9179-59FC233E2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565" y="1676232"/>
            <a:ext cx="43728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68575" tIns="34275" rIns="68575" bIns="3427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</a:pPr>
            <a:r>
              <a:rPr sz="3300" b="0" i="0" u="none" cap="none">
                <a:solidFill>
                  <a:schemeClr val="lt1"/>
                </a:solidFill>
                <a:latin typeface="Nunito ExtraBold"/>
                <a:ea typeface="Nunito ExtraBold"/>
                <a:cs typeface="Nunito ExtraBold"/>
              </a:rPr>
              <a:t>Happy Learning !</a:t>
            </a:r>
            <a:endParaRPr sz="3300" b="0" i="0" u="none" cap="none">
              <a:solidFill>
                <a:schemeClr val="lt1"/>
              </a:solidFill>
              <a:latin typeface="Nunito ExtraBold"/>
              <a:ea typeface="Nunito ExtraBold"/>
              <a:cs typeface="Nunito ExtraBold"/>
            </a:endParaRPr>
          </a:p>
        </p:txBody>
      </p:sp>
      <p:pic>
        <p:nvPicPr>
          <p:cNvPr id="73" name="Google Shape;67;p15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aa32d713922459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295874" y="683275"/>
            <a:ext cx="3757725" cy="82587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16">
            <a:extLst xmlns:a="http://schemas.openxmlformats.org/drawingml/2006/main">
              <a:ext uri="{FF2B5EF4-FFF2-40B4-BE49-F238E27FC236}">
                <a16:creationId xmlns:a16="http://schemas.microsoft.com/office/drawing/2014/main" id="{6D472DCC-F4C6-40D9-9FB5-BAC94218E7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2150850"/>
            <a:ext cx="8520600" cy="841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E39A9"/>
              </a:buClr>
              <a:buSzPts val="3600"/>
              <a:buNone/>
              <a:defRPr sz="3600">
                <a:solidFill>
                  <a:srgbClr val="0E39A9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0" name="Google Shape;70;p16">
            <a:extLst xmlns:a="http://schemas.openxmlformats.org/drawingml/2006/main">
              <a:ext uri="{FF2B5EF4-FFF2-40B4-BE49-F238E27FC236}">
                <a16:creationId xmlns:a16="http://schemas.microsoft.com/office/drawing/2014/main" id="{B27B9885-4518-4B44-90E0-855194298B0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17">
            <a:extLst xmlns:a="http://schemas.openxmlformats.org/drawingml/2006/main">
              <a:ext uri="{FF2B5EF4-FFF2-40B4-BE49-F238E27FC236}">
                <a16:creationId xmlns:a16="http://schemas.microsoft.com/office/drawing/2014/main" id="{6FF87131-AD5B-4B16-AD48-0D60298162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17">
            <a:extLst xmlns:a="http://schemas.openxmlformats.org/drawingml/2006/main">
              <a:ext uri="{FF2B5EF4-FFF2-40B4-BE49-F238E27FC236}">
                <a16:creationId xmlns:a16="http://schemas.microsoft.com/office/drawing/2014/main" id="{117D7CE6-9F12-458D-9FA8-AD546A82859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1pPr>
            <a:lvl2pPr marL="91440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3pPr>
            <a:lvl4pPr marL="182880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4pPr>
            <a:lvl5pPr marL="228600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5pPr>
            <a:lvl6pPr marL="274320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6pPr>
            <a:lvl7pPr marL="320040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Font typeface="Nunito"/>
              <a:buChar char="●"/>
              <a:defRPr>
                <a:latin typeface="Nunito"/>
                <a:ea typeface="Nunito"/>
                <a:cs typeface="Nunito"/>
              </a:defRPr>
            </a:lvl7pPr>
            <a:lvl8pPr marL="365760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Font typeface="Nunito"/>
              <a:buChar char="○"/>
              <a:defRPr>
                <a:latin typeface="Nunito"/>
                <a:ea typeface="Nunito"/>
                <a:cs typeface="Nunito"/>
              </a:defRPr>
            </a:lvl8pPr>
            <a:lvl9pPr marL="411480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Font typeface="Nunito"/>
              <a:buChar char="■"/>
              <a:defRPr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74" name="Google Shape;74;p17">
            <a:extLst xmlns:a="http://schemas.openxmlformats.org/drawingml/2006/main">
              <a:ext uri="{FF2B5EF4-FFF2-40B4-BE49-F238E27FC236}">
                <a16:creationId xmlns:a16="http://schemas.microsoft.com/office/drawing/2014/main" id="{CADFB1A9-99C3-4CF3-AFC6-C328EC88F63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matchingName="Title and Table">
  <p:cSld name="CUS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Google Shape;76;p18">
            <a:extLst xmlns:a="http://schemas.openxmlformats.org/drawingml/2006/main">
              <a:ext uri="{FF2B5EF4-FFF2-40B4-BE49-F238E27FC236}">
                <a16:creationId xmlns:a16="http://schemas.microsoft.com/office/drawing/2014/main" id="{F96DFF44-42E6-4D7A-8B1C-87E6962441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graphicFrame>
        <p:nvGraphicFramePr>
          <p:cNvPr id="81" name="Google Shape;77;p18"/>
          <p:cNvGraphicFramePr/>
          <p:nvPr/>
        </p:nvGraphicFramePr>
        <p:xfrm>
          <a:off xmlns:a="http://schemas.openxmlformats.org/drawingml/2006/main" x="201942" y="833662"/>
          <a:ext xmlns:a="http://schemas.openxmlformats.org/drawingml/2006/main" cx="3000000" cy="300000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{7C2EA955-FAA9-4741-80A4-FAB2EC53E622}</a:tableStyleId>
              </a:tblPr>
              <a:tblGrid>
                <a:gridCol w="883125"/>
                <a:gridCol w="3886050"/>
                <a:gridCol w="3886050"/>
              </a:tblGrid>
              <a:tr h="67357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Cluster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Cluster Profile 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sz="1400" u="none" cap="none">
                          <a:latin typeface="Nunito"/>
                          <a:ea typeface="Nunito"/>
                          <a:cs typeface="Nunito"/>
                        </a:rPr>
                        <a:t>Business Insights for Marketing Team</a:t>
                      </a:r>
                      <a:endParaRPr sz="14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7533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1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High value customers who have many credit cards and prefer to engage online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Engage Online – Set up priority calling in lines – Upsell and Cross sell premium products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2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..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3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sz="1200" u="none" cap="none">
                          <a:latin typeface="Nunito"/>
                          <a:ea typeface="Nunito"/>
                          <a:cs typeface="Nunito"/>
                        </a:rPr>
                        <a:t>…</a:t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  <a:tr h="669525"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0" marR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t/>
                      </a:r>
                      <a:endParaRPr sz="1200" u="none" cap="none">
                        <a:latin typeface="Nunito"/>
                        <a:ea typeface="Nunito"/>
                        <a:cs typeface="Nunito"/>
                      </a:endParaRPr>
                    </a:p>
                  </a:txBody>
                  <a:tcPr marL="91450" marR="91450" marT="45725" marB="45725" anchor="ctr">
                    <a:lnL w="12700" cmpd="sng">
                      <a:solidFill>
                        <a:srgbClr val="7F7F7F"/>
                      </a:solidFill>
                      <a:prstDash val="solid"/>
                    </a:lnL>
                    <a:lnR w="12700" cmpd="sng">
                      <a:solidFill>
                        <a:srgbClr val="7F7F7F"/>
                      </a:solidFill>
                      <a:prstDash val="solid"/>
                    </a:lnR>
                  </a:tcPr>
                </a:tc>
              </a:tr>
            </a:tbl>
          </a:graphicData>
        </a:graphic>
      </p:graphicFrame>
      <p:sp>
        <p:nvSpPr>
          <p:cNvPr id="78" name="Google Shape;78;p18">
            <a:extLst xmlns:a="http://schemas.openxmlformats.org/drawingml/2006/main">
              <a:ext uri="{FF2B5EF4-FFF2-40B4-BE49-F238E27FC236}">
                <a16:creationId xmlns:a16="http://schemas.microsoft.com/office/drawing/2014/main" id="{9700C45F-D80B-4D39-8D3A-D65B78A2E1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Google Shape;80;p19">
            <a:extLst xmlns:a="http://schemas.openxmlformats.org/drawingml/2006/main">
              <a:ext uri="{FF2B5EF4-FFF2-40B4-BE49-F238E27FC236}">
                <a16:creationId xmlns:a16="http://schemas.microsoft.com/office/drawing/2014/main" id="{F8DAB412-7191-4CC2-A886-1988E8C24CB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81" name="Google Shape;81;p19">
            <a:extLst xmlns:a="http://schemas.openxmlformats.org/drawingml/2006/main">
              <a:ext uri="{FF2B5EF4-FFF2-40B4-BE49-F238E27FC236}">
                <a16:creationId xmlns:a16="http://schemas.microsoft.com/office/drawing/2014/main" id="{392B762B-0DDD-4CE6-9A3F-D56363C8B3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82" name="Google Shape;82;p19">
            <a:extLst xmlns:a="http://schemas.openxmlformats.org/drawingml/2006/main">
              <a:ext uri="{FF2B5EF4-FFF2-40B4-BE49-F238E27FC236}">
                <a16:creationId xmlns:a16="http://schemas.microsoft.com/office/drawing/2014/main" id="{F302A3A9-4B86-4209-9051-BD6ADF2A009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832400" y="1152475"/>
            <a:ext cx="39999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 xmlns:a="http://schemas.openxmlformats.org/drawingml/2006/main"/>
        </p:txBody>
      </p:sp>
      <p:sp>
        <p:nvSpPr>
          <p:cNvPr id="83" name="Google Shape;83;p19">
            <a:extLst xmlns:a="http://schemas.openxmlformats.org/drawingml/2006/main">
              <a:ext uri="{FF2B5EF4-FFF2-40B4-BE49-F238E27FC236}">
                <a16:creationId xmlns:a16="http://schemas.microsoft.com/office/drawing/2014/main" id="{B0D44E14-52C2-497E-A4CC-E5C16636EF8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8.xml><?xml version="1.0" encoding="utf-8"?>
<p:sldLayout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5" name="Google Shape;85;p20">
            <a:extLst xmlns:a="http://schemas.openxmlformats.org/drawingml/2006/main">
              <a:ext uri="{FF2B5EF4-FFF2-40B4-BE49-F238E27FC236}">
                <a16:creationId xmlns:a16="http://schemas.microsoft.com/office/drawing/2014/main" id="{420F9CBA-B9C5-4DC6-9346-10116F7D82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/>
            </a:lvl9pPr>
          </a:lstStyle>
          <a:p xmlns:a="http://schemas.openxmlformats.org/drawingml/2006/main"/>
        </p:txBody>
      </p:sp>
      <p:sp>
        <p:nvSpPr>
          <p:cNvPr id="86" name="Google Shape;86;p20">
            <a:extLst xmlns:a="http://schemas.openxmlformats.org/drawingml/2006/main">
              <a:ext uri="{FF2B5EF4-FFF2-40B4-BE49-F238E27FC236}">
                <a16:creationId xmlns:a16="http://schemas.microsoft.com/office/drawing/2014/main" id="{ACE56D6B-8DF0-41EC-BEF1-F950CA69149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19.xml><?xml version="1.0" encoding="utf-8"?>
<p:sldLayout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Google Shape;88;p21">
            <a:extLst xmlns:a="http://schemas.openxmlformats.org/drawingml/2006/main">
              <a:ext uri="{FF2B5EF4-FFF2-40B4-BE49-F238E27FC236}">
                <a16:creationId xmlns:a16="http://schemas.microsoft.com/office/drawing/2014/main" id="{22B6F188-D60F-4ACC-9828-D5C6C110CA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90250" y="450150"/>
            <a:ext cx="6367800" cy="40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 xmlns:a="http://schemas.openxmlformats.org/drawingml/2006/main"/>
        </p:txBody>
      </p:sp>
      <p:sp>
        <p:nvSpPr>
          <p:cNvPr id="89" name="Google Shape;89;p21">
            <a:extLst xmlns:a="http://schemas.openxmlformats.org/drawingml/2006/main">
              <a:ext uri="{FF2B5EF4-FFF2-40B4-BE49-F238E27FC236}">
                <a16:creationId xmlns:a16="http://schemas.microsoft.com/office/drawing/2014/main" id="{286B02B8-35F3-49DC-9F13-1F0996ECAE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0.xml><?xml version="1.0" encoding="utf-8"?>
<p:sldLayout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1" name="Google Shape;91;p22">
            <a:extLst xmlns:a="http://schemas.openxmlformats.org/drawingml/2006/main">
              <a:ext uri="{FF2B5EF4-FFF2-40B4-BE49-F238E27FC236}">
                <a16:creationId xmlns:a16="http://schemas.microsoft.com/office/drawing/2014/main" id="{7A57D00F-B420-45EA-ABAB-C3A11281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-125"/>
            <a:ext cx="4572000" cy="51435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2" name="Google Shape;92;p22">
            <a:extLst xmlns:a="http://schemas.openxmlformats.org/drawingml/2006/main">
              <a:ext uri="{FF2B5EF4-FFF2-40B4-BE49-F238E27FC236}">
                <a16:creationId xmlns:a16="http://schemas.microsoft.com/office/drawing/2014/main" id="{EB4901B9-8143-4742-A06A-A2C3EBB39B5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65500" y="1233175"/>
            <a:ext cx="4045200" cy="1482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 xmlns:a="http://schemas.openxmlformats.org/drawingml/2006/main"/>
        </p:txBody>
      </p:sp>
      <p:sp>
        <p:nvSpPr>
          <p:cNvPr id="93" name="Google Shape;93;p22">
            <a:extLst xmlns:a="http://schemas.openxmlformats.org/drawingml/2006/main">
              <a:ext uri="{FF2B5EF4-FFF2-40B4-BE49-F238E27FC236}">
                <a16:creationId xmlns:a16="http://schemas.microsoft.com/office/drawing/2014/main" id="{88C0A895-EACD-4D2D-9E46-2E20DF477C2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265500" y="2803075"/>
            <a:ext cx="4045200" cy="123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 xmlns:a="http://schemas.openxmlformats.org/drawingml/2006/main"/>
        </p:txBody>
      </p:sp>
      <p:sp>
        <p:nvSpPr>
          <p:cNvPr id="94" name="Google Shape;94;p22">
            <a:extLst xmlns:a="http://schemas.openxmlformats.org/drawingml/2006/main">
              <a:ext uri="{FF2B5EF4-FFF2-40B4-BE49-F238E27FC236}">
                <a16:creationId xmlns:a16="http://schemas.microsoft.com/office/drawing/2014/main" id="{A83A6BF1-2C81-43CE-94D2-9A0DF27AC45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939500" y="724075"/>
            <a:ext cx="3837000" cy="369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45720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●"/>
              <a:defRPr/>
            </a:lvl1pPr>
            <a:lvl2pPr marL="91440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300"/>
              <a:buChar char="○"/>
              <a:defRPr/>
            </a:lvl2pPr>
            <a:lvl3pPr marL="137160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000"/>
              <a:buChar char="○"/>
              <a:defRPr/>
            </a:lvl5pPr>
            <a:lvl6pPr marL="274320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900"/>
              <a:buChar char="■"/>
              <a:defRPr/>
            </a:lvl6pPr>
            <a:lvl7pPr marL="320040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800"/>
              <a:buChar char="●"/>
              <a:defRPr/>
            </a:lvl7pPr>
            <a:lvl8pPr marL="365760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700"/>
              <a:buChar char="○"/>
              <a:defRPr/>
            </a:lvl8pPr>
            <a:lvl9pPr marL="411480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600"/>
              <a:buChar char="■"/>
              <a:defRPr/>
            </a:lvl9pPr>
          </a:lstStyle>
          <a:p xmlns:a="http://schemas.openxmlformats.org/drawingml/2006/main"/>
        </p:txBody>
      </p:sp>
      <p:sp>
        <p:nvSpPr>
          <p:cNvPr id="95" name="Google Shape;95;p22">
            <a:extLst xmlns:a="http://schemas.openxmlformats.org/drawingml/2006/main">
              <a:ext uri="{FF2B5EF4-FFF2-40B4-BE49-F238E27FC236}">
                <a16:creationId xmlns:a16="http://schemas.microsoft.com/office/drawing/2014/main" id="{8F68F702-5C68-4716-8298-DF76EF6C55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Layouts/slideLayout21.xml><?xml version="1.0" encoding="utf-8"?>
<p:sldLayout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7" name="Google Shape;97;p23">
            <a:extLst xmlns:a="http://schemas.openxmlformats.org/drawingml/2006/main">
              <a:ext uri="{FF2B5EF4-FFF2-40B4-BE49-F238E27FC236}">
                <a16:creationId xmlns:a16="http://schemas.microsoft.com/office/drawing/2014/main" id="{C9F5BA81-3577-44FD-85DC-14A992427A6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95d297287cd4abf" /><Relationship Type="http://schemas.openxmlformats.org/officeDocument/2006/relationships/slideLayout" Target="/ppt/slideLayouts/slideLayout1.xml" Id="R96e5c51f57264256" /><Relationship Type="http://schemas.openxmlformats.org/officeDocument/2006/relationships/slideLayout" Target="/ppt/slideLayouts/slideLayout2.xml" Id="R9733a20547c14fba" /><Relationship Type="http://schemas.openxmlformats.org/officeDocument/2006/relationships/slideLayout" Target="/ppt/slideLayouts/slideLayout3.xml" Id="R303c4e61983b4ac5" /><Relationship Type="http://schemas.openxmlformats.org/officeDocument/2006/relationships/slideLayout" Target="/ppt/slideLayouts/slideLayout4.xml" Id="R8a311f71ef914d27" /><Relationship Type="http://schemas.openxmlformats.org/officeDocument/2006/relationships/slideLayout" Target="/ppt/slideLayouts/slideLayout5.xml" Id="R38b414e382c44710" /><Relationship Type="http://schemas.openxmlformats.org/officeDocument/2006/relationships/slideLayout" Target="/ppt/slideLayouts/slideLayout6.xml" Id="R0f7749c45ef24cbe" /><Relationship Type="http://schemas.openxmlformats.org/officeDocument/2006/relationships/slideLayout" Target="/ppt/slideLayouts/slideLayout7.xml" Id="Rc2c0eca44a8448c4" /><Relationship Type="http://schemas.openxmlformats.org/officeDocument/2006/relationships/slideLayout" Target="/ppt/slideLayouts/slideLayout8.xml" Id="Re42ab44341e142ad" /><Relationship Type="http://schemas.openxmlformats.org/officeDocument/2006/relationships/slideLayout" Target="/ppt/slideLayouts/slideLayout9.xml" Id="Re3afd29db9514ad1" /><Relationship Type="http://schemas.openxmlformats.org/officeDocument/2006/relationships/slideLayout" Target="/ppt/slideLayouts/slideLayout10.xml" Id="Rac086b42c31c44ec" /><Relationship Type="http://schemas.openxmlformats.org/officeDocument/2006/relationships/slideLayout" Target="/ppt/slideLayouts/slideLayout11.xml" Id="R41e66fdc480247f6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image" Target="/ppt/media/image.png" Id="R4f7c0f02ad8e4005" /><Relationship Type="http://schemas.openxmlformats.org/officeDocument/2006/relationships/theme" Target="/ppt/slideMasters/theme/theme3.xml" Id="Rc4eb61e9f069446d" /><Relationship Type="http://schemas.openxmlformats.org/officeDocument/2006/relationships/slideLayout" Target="/ppt/slideLayouts/slideLayout12.xml" Id="R77d1c79bc0b84aba" /><Relationship Type="http://schemas.openxmlformats.org/officeDocument/2006/relationships/slideLayout" Target="/ppt/slideLayouts/slideLayout13.xml" Id="Rb6b02f496e4e4088" /><Relationship Type="http://schemas.openxmlformats.org/officeDocument/2006/relationships/slideLayout" Target="/ppt/slideLayouts/slideLayout14.xml" Id="Red9a54882378489a" /><Relationship Type="http://schemas.openxmlformats.org/officeDocument/2006/relationships/slideLayout" Target="/ppt/slideLayouts/slideLayout15.xml" Id="R189c56501abf49c2" /><Relationship Type="http://schemas.openxmlformats.org/officeDocument/2006/relationships/slideLayout" Target="/ppt/slideLayouts/slideLayout16.xml" Id="Raf2ad7522fda456c" /><Relationship Type="http://schemas.openxmlformats.org/officeDocument/2006/relationships/slideLayout" Target="/ppt/slideLayouts/slideLayout17.xml" Id="R17b0633c69904070" /><Relationship Type="http://schemas.openxmlformats.org/officeDocument/2006/relationships/slideLayout" Target="/ppt/slideLayouts/slideLayout18.xml" Id="R8e8af4d7df194664" /><Relationship Type="http://schemas.openxmlformats.org/officeDocument/2006/relationships/slideLayout" Target="/ppt/slideLayouts/slideLayout19.xml" Id="R239fa25572714edf" /><Relationship Type="http://schemas.openxmlformats.org/officeDocument/2006/relationships/slideLayout" Target="/ppt/slideLayouts/slideLayout20.xml" Id="Red16c12068e847ba" /><Relationship Type="http://schemas.openxmlformats.org/officeDocument/2006/relationships/slideLayout" Target="/ppt/slideLayouts/slideLayout21.xml" Id="R30fa8972cc82468b" /></Relationships>
</file>

<file path=ppt/slideMasters/slideMaster1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Google Shape;6;p1">
            <a:extLst xmlns:a="http://schemas.openxmlformats.org/drawingml/2006/main">
              <a:ext uri="{FF2B5EF4-FFF2-40B4-BE49-F238E27FC236}">
                <a16:creationId xmlns:a16="http://schemas.microsoft.com/office/drawing/2014/main" id="{2571C84E-3CE1-4452-B454-1BF4FAF66F1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311700" y="445025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7" name="Google Shape;7;p1">
            <a:extLst xmlns:a="http://schemas.openxmlformats.org/drawingml/2006/main">
              <a:ext uri="{FF2B5EF4-FFF2-40B4-BE49-F238E27FC236}">
                <a16:creationId xmlns:a16="http://schemas.microsoft.com/office/drawing/2014/main" id="{AA716357-4FEF-40C4-ACC1-87E53C00424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11524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rmAutofit/>
          </a:bodyPr>
          <a:lstStyle xmlns:a="http://schemas.openxmlformats.org/drawingml/2006/main"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 xmlns:a="http://schemas.openxmlformats.org/drawingml/2006/main"/>
        </p:txBody>
      </p:sp>
      <p:sp>
        <p:nvSpPr>
          <p:cNvPr id="8" name="Google Shape;8;p1">
            <a:extLst xmlns:a="http://schemas.openxmlformats.org/drawingml/2006/main">
              <a:ext uri="{FF2B5EF4-FFF2-40B4-BE49-F238E27FC236}">
                <a16:creationId xmlns:a16="http://schemas.microsoft.com/office/drawing/2014/main" id="{F7CB17F9-ED88-41A3-B41E-2103675E24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472458" y="4663217"/>
            <a:ext cx="548700" cy="393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rmAutofit/>
          </a:bodyPr>
          <a:lstStyle xmlns:a="http://schemas.openxmlformats.org/drawingml/2006/main">
            <a:lvl1pPr algn="r">
              <a:buNone/>
              <a:defRPr sz="1000">
                <a:solidFill>
                  <a:schemeClr val="dk2"/>
                </a:solidFill>
              </a:defRPr>
            </a:lvl1pPr>
            <a:lvl2pPr algn="r">
              <a:buNone/>
              <a:defRPr sz="1000">
                <a:solidFill>
                  <a:schemeClr val="dk2"/>
                </a:solidFill>
              </a:defRPr>
            </a:lvl2pPr>
            <a:lvl3pPr algn="r">
              <a:buNone/>
              <a:defRPr sz="1000">
                <a:solidFill>
                  <a:schemeClr val="dk2"/>
                </a:solidFill>
              </a:defRPr>
            </a:lvl3pPr>
            <a:lvl4pPr algn="r">
              <a:buNone/>
              <a:defRPr sz="1000">
                <a:solidFill>
                  <a:schemeClr val="dk2"/>
                </a:solidFill>
              </a:defRPr>
            </a:lvl4pPr>
            <a:lvl5pPr algn="r">
              <a:buNone/>
              <a:defRPr sz="1000">
                <a:solidFill>
                  <a:schemeClr val="dk2"/>
                </a:solidFill>
              </a:defRPr>
            </a:lvl5pPr>
            <a:lvl6pPr algn="r">
              <a:buNone/>
              <a:defRPr sz="1000">
                <a:solidFill>
                  <a:schemeClr val="dk2"/>
                </a:solidFill>
              </a:defRPr>
            </a:lvl6pPr>
            <a:lvl7pPr algn="r">
              <a:buNone/>
              <a:defRPr sz="1000">
                <a:solidFill>
                  <a:schemeClr val="dk2"/>
                </a:solidFill>
              </a:defRPr>
            </a:lvl7pPr>
            <a:lvl8pPr algn="r">
              <a:buNone/>
              <a:defRPr sz="1000">
                <a:solidFill>
                  <a:schemeClr val="dk2"/>
                </a:solidFill>
              </a:defRPr>
            </a:lvl8pPr>
            <a:lvl9pPr algn="r">
              <a:buNone/>
              <a:defRPr sz="1000">
                <a:solidFill>
                  <a:schemeClr val="dk2"/>
                </a:solidFill>
              </a:defRPr>
            </a:lvl9pPr>
          </a:lstStyle>
          <a:p xmlns:a="http://schemas.openxmlformats.org/drawingml/2006/main"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6e5c51f57264256"/>
    <p:sldLayoutId xmlns:r="http://schemas.openxmlformats.org/officeDocument/2006/relationships" id="2147483650" r:id="R9733a20547c14fba"/>
    <p:sldLayoutId xmlns:r="http://schemas.openxmlformats.org/officeDocument/2006/relationships" id="2147483651" r:id="R303c4e61983b4ac5"/>
    <p:sldLayoutId xmlns:r="http://schemas.openxmlformats.org/officeDocument/2006/relationships" id="2147483652" r:id="R8a311f71ef914d27"/>
    <p:sldLayoutId xmlns:r="http://schemas.openxmlformats.org/officeDocument/2006/relationships" id="2147483653" r:id="R38b414e382c44710"/>
    <p:sldLayoutId xmlns:r="http://schemas.openxmlformats.org/officeDocument/2006/relationships" id="2147483654" r:id="R0f7749c45ef24cbe"/>
    <p:sldLayoutId xmlns:r="http://schemas.openxmlformats.org/officeDocument/2006/relationships" id="2147483655" r:id="Rc2c0eca44a8448c4"/>
    <p:sldLayoutId xmlns:r="http://schemas.openxmlformats.org/officeDocument/2006/relationships" id="2147483656" r:id="Re42ab44341e142ad"/>
    <p:sldLayoutId xmlns:r="http://schemas.openxmlformats.org/officeDocument/2006/relationships" id="2147483657" r:id="Re3afd29db9514ad1"/>
    <p:sldLayoutId xmlns:r="http://schemas.openxmlformats.org/officeDocument/2006/relationships" id="2147483658" r:id="Rac086b42c31c44ec"/>
    <p:sldLayoutId xmlns:r="http://schemas.openxmlformats.org/officeDocument/2006/relationships" id="2147483659" r:id="R41e66fdc480247f6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imple-light-2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Google Shape;51;p13">
            <a:extLst xmlns:a="http://schemas.openxmlformats.org/drawingml/2006/main">
              <a:ext uri="{FF2B5EF4-FFF2-40B4-BE49-F238E27FC236}">
                <a16:creationId xmlns:a16="http://schemas.microsoft.com/office/drawing/2014/main" id="{C62DA1CD-A47A-4EFC-80E9-A160FC20A2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01972" y="288368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200"/>
              <a:buFont typeface="Nunito"/>
              <a:buNone/>
              <a:defRPr sz="22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0"/>
              <a:buFont typeface="Nunito SemiBold"/>
              <a:buNone/>
              <a:defRPr sz="2500" b="1" i="0" u="none" cap="none">
                <a:solidFill>
                  <a:srgbClr val="434343"/>
                </a:solidFill>
                <a:latin typeface="Nunito SemiBold"/>
                <a:ea typeface="Nunito SemiBold"/>
                <a:cs typeface="Nunito SemiBold"/>
              </a:defRPr>
            </a:lvl9pPr>
          </a:lstStyle>
          <a:p xmlns:a="http://schemas.openxmlformats.org/drawingml/2006/main"/>
        </p:txBody>
      </p:sp>
      <p:sp>
        <p:nvSpPr>
          <p:cNvPr id="52" name="Google Shape;52;p13">
            <a:extLst xmlns:a="http://schemas.openxmlformats.org/drawingml/2006/main">
              <a:ext uri="{FF2B5EF4-FFF2-40B4-BE49-F238E27FC236}">
                <a16:creationId xmlns:a16="http://schemas.microsoft.com/office/drawing/2014/main" id="{5F0CF8A3-F91C-468B-B400-37DE445161C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11700" y="861075"/>
            <a:ext cx="8520600" cy="341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>
            <a:lvl1pPr marL="457200" marR="0" indent="-3238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Nunito"/>
              <a:buChar char="●"/>
              <a:defRPr sz="15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1pPr>
            <a:lvl2pPr marL="914400" marR="0" indent="-3111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○"/>
              <a:defRPr sz="13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2pPr>
            <a:lvl3pPr marL="1371600" marR="0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Nunito"/>
              <a:buChar char="■"/>
              <a:defRPr sz="12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3pPr>
            <a:lvl4pPr marL="1828800" marR="0" indent="-2984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4pPr>
            <a:lvl5pPr marL="2286000" marR="0" indent="-2921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Nunito"/>
              <a:buChar char="○"/>
              <a:defRPr sz="10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5pPr>
            <a:lvl6pPr marL="2743200" marR="0" indent="-2857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Nunito"/>
              <a:buChar char="■"/>
              <a:defRPr sz="9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6pPr>
            <a:lvl7pPr marL="3200400" marR="0" indent="-279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800"/>
              <a:buFont typeface="Nunito"/>
              <a:buChar char="●"/>
              <a:defRPr sz="8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7pPr>
            <a:lvl8pPr marL="3657600" marR="0" indent="-2730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700"/>
              <a:buFont typeface="Nunito"/>
              <a:buChar char="○"/>
              <a:defRPr sz="7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8pPr>
            <a:lvl9pPr marL="4114800" marR="0" indent="-2667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600"/>
              <a:buFont typeface="Nunito"/>
              <a:buChar char="■"/>
              <a:defRPr sz="600" b="0" i="0" u="none" cap="none">
                <a:solidFill>
                  <a:schemeClr val="dk2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/>
        </p:txBody>
      </p:sp>
      <p:sp>
        <p:nvSpPr>
          <p:cNvPr id="53" name="Google Shape;53;p13">
            <a:extLst xmlns:a="http://schemas.openxmlformats.org/drawingml/2006/main">
              <a:ext uri="{FF2B5EF4-FFF2-40B4-BE49-F238E27FC236}">
                <a16:creationId xmlns:a16="http://schemas.microsoft.com/office/drawing/2014/main" id="{A6310921-373C-4268-8EA9-CA0D978CB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4400" y="4917657"/>
            <a:ext cx="4675200" cy="275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12700" marR="0" lvl="0" indent="0" algn="ctr">
              <a:lnSpc>
                <a:spcPct val="1025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sz="7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rPr>
              <a:t>Proprietary content. © Great Learning. All Rights Reserved. Unauthorized use or distribution prohibited.</a:t>
            </a:r>
            <a:endParaRPr sz="700" b="1" i="0" u="none" cap="none">
              <a:solidFill>
                <a:srgbClr val="434343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54" name="Google Shape;54;p13">
            <a:extLst xmlns:a="http://schemas.openxmlformats.org/drawingml/2006/main">
              <a:ext uri="{FF2B5EF4-FFF2-40B4-BE49-F238E27FC236}">
                <a16:creationId xmlns:a16="http://schemas.microsoft.com/office/drawing/2014/main" id="{87D92B6B-B4EC-4299-B33B-D2643C8DB31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32299" y="4946907"/>
            <a:ext cx="365400" cy="21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>
            <a:lvl1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1pPr>
            <a:lvl2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2pPr>
            <a:lvl3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3pPr>
            <a:lvl4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4pPr>
            <a:lvl5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5pPr>
            <a:lvl6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6pPr>
            <a:lvl7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7pPr>
            <a:lvl8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8pPr>
            <a:lvl9pPr marL="0" marR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800" b="1" i="0" u="none" cap="none">
                <a:solidFill>
                  <a:srgbClr val="434343"/>
                </a:solidFill>
                <a:latin typeface="Nunito"/>
                <a:ea typeface="Nunito"/>
                <a:cs typeface="Nunito"/>
              </a:defRPr>
            </a:lvl9pPr>
          </a:lstStyle>
          <a:p xmlns:a="http://schemas.openxmlformats.org/drawingml/2006/main">
            <a:pPr marL="0" lvl="0" indent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  <p:pic>
        <p:nvPicPr>
          <p:cNvPr id="64" name="Google Shape;55;p1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7c0f02ad8e400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669500" y="68264"/>
            <a:ext cx="1395476" cy="57270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7" name="Google Shape;57;p13">
            <a:extLst xmlns:a="http://schemas.openxmlformats.org/drawingml/2006/main">
              <a:ext uri="{FF2B5EF4-FFF2-40B4-BE49-F238E27FC236}">
                <a16:creationId xmlns:a16="http://schemas.microsoft.com/office/drawing/2014/main" id="{EAF79F2D-37B3-4EDA-B2E6-FFCE9EA0D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93" y="10"/>
            <a:ext cx="175500" cy="35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39A9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8" name="Google Shape;58;p13">
            <a:extLst xmlns:a="http://schemas.openxmlformats.org/drawingml/2006/main">
              <a:ext uri="{FF2B5EF4-FFF2-40B4-BE49-F238E27FC236}">
                <a16:creationId xmlns:a16="http://schemas.microsoft.com/office/drawing/2014/main" id="{5BC823C4-D532-43B7-94EB-56FA3FAE1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93" y="353731"/>
            <a:ext cx="175500" cy="355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74D2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77d1c79bc0b84aba"/>
    <p:sldLayoutId xmlns:r="http://schemas.openxmlformats.org/officeDocument/2006/relationships" id="2147483662" r:id="Rb6b02f496e4e4088"/>
    <p:sldLayoutId xmlns:r="http://schemas.openxmlformats.org/officeDocument/2006/relationships" id="2147483663" r:id="Red9a54882378489a"/>
    <p:sldLayoutId xmlns:r="http://schemas.openxmlformats.org/officeDocument/2006/relationships" id="2147483664" r:id="R189c56501abf49c2"/>
    <p:sldLayoutId xmlns:r="http://schemas.openxmlformats.org/officeDocument/2006/relationships" id="2147483665" r:id="Raf2ad7522fda456c"/>
    <p:sldLayoutId xmlns:r="http://schemas.openxmlformats.org/officeDocument/2006/relationships" id="2147483666" r:id="R17b0633c69904070"/>
    <p:sldLayoutId xmlns:r="http://schemas.openxmlformats.org/officeDocument/2006/relationships" id="2147483667" r:id="R8e8af4d7df194664"/>
    <p:sldLayoutId xmlns:r="http://schemas.openxmlformats.org/officeDocument/2006/relationships" id="2147483668" r:id="R239fa25572714edf"/>
    <p:sldLayoutId xmlns:r="http://schemas.openxmlformats.org/officeDocument/2006/relationships" id="2147483669" r:id="Red16c12068e847ba"/>
    <p:sldLayoutId xmlns:r="http://schemas.openxmlformats.org/officeDocument/2006/relationships" id="2147483670" r:id="R30fa8972cc82468b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Masters/theme/theme3.xml><?xml version="1.0" encoding="utf-8"?>
<a:theme xmlns:a="http://schemas.openxmlformats.org/drawingml/2006/main" name="Just Logo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405a30114134a2f" /><Relationship Type="http://schemas.openxmlformats.org/officeDocument/2006/relationships/notesSlide" Target="/ppt/notesSlides/notesSlide1.xml" Id="Re4e624b80bf8448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a2265f3dbc74bc3" /><Relationship Type="http://schemas.openxmlformats.org/officeDocument/2006/relationships/notesSlide" Target="/ppt/notesSlides/notesSlide2.xml" Id="R45bce7f338414e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364094d8cf4416f" /><Relationship Type="http://schemas.openxmlformats.org/officeDocument/2006/relationships/notesSlide" Target="/ppt/notesSlides/notesSlide3.xml" Id="R4c9eeefb069841d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9eaeea7179040ca" /><Relationship Type="http://schemas.openxmlformats.org/officeDocument/2006/relationships/notesSlide" Target="/ppt/notesSlides/notesSlide4.xml" Id="Rfe6503fc7add4ec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cdf8df0b74b4126" /><Relationship Type="http://schemas.openxmlformats.org/officeDocument/2006/relationships/notesSlide" Target="/ppt/notesSlides/notesSlide5.xml" Id="Ra9464dc0a8ff434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a8a12c75ecd43b6" /><Relationship Type="http://schemas.openxmlformats.org/officeDocument/2006/relationships/notesSlide" Target="/ppt/notesSlides/notesSlide6.xml" Id="R8d73ceaa1f4d48b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2222eb338654124" /><Relationship Type="http://schemas.openxmlformats.org/officeDocument/2006/relationships/notesSlide" Target="/ppt/notesSlides/notesSlide7.xml" Id="R7201d2da160e48c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7eeee508e7a497b" /><Relationship Type="http://schemas.openxmlformats.org/officeDocument/2006/relationships/notesSlide" Target="/ppt/notesSlides/notesSlide8.xml" Id="Rff36be10a29f4cd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15a7cb2ee8b140c8" /><Relationship Type="http://schemas.openxmlformats.org/officeDocument/2006/relationships/notesSlide" Target="/ppt/notesSlides/notesSlide9.xml" Id="Recbd2f9a459541c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f894b2b65c842f7" /><Relationship Type="http://schemas.openxmlformats.org/officeDocument/2006/relationships/notesSlide" Target="/ppt/notesSlides/notesSlide10.xml" Id="Rfa9f8345292944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a0de0c4168284296" /><Relationship Type="http://schemas.openxmlformats.org/officeDocument/2006/relationships/notesSlide" Target="/ppt/notesSlides/notesSlide11.xml" Id="R4d4be11a21994a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76dc860421234690" /><Relationship Type="http://schemas.openxmlformats.org/officeDocument/2006/relationships/notesSlide" Target="/ppt/notesSlides/notesSlide12.xml" Id="R317320c1d833468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99a3cfe35f348f5" /><Relationship Type="http://schemas.openxmlformats.org/officeDocument/2006/relationships/image" Target="/ppt/media/image4.png" Id="R2a77bf71dad9442c" /><Relationship Type="http://schemas.openxmlformats.org/officeDocument/2006/relationships/notesSlide" Target="/ppt/notesSlides/notesSlide13.xml" Id="Rf101e60cc6884f6f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401ba3a3639408e" /><Relationship Type="http://schemas.openxmlformats.org/officeDocument/2006/relationships/notesSlide" Target="/ppt/notesSlides/notesSlide14.xml" Id="Rfa73be4e0aaa45f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59c1a10956e4d1a" /><Relationship Type="http://schemas.openxmlformats.org/officeDocument/2006/relationships/notesSlide" Target="/ppt/notesSlides/notesSlide15.xml" Id="R85feef87275e4ce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561bfe27d7444c8b" /><Relationship Type="http://schemas.openxmlformats.org/officeDocument/2006/relationships/notesSlide" Target="/ppt/notesSlides/notesSlide16.xml" Id="R38a77ce299e74f0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24">
            <a:extLst xmlns:a="http://schemas.openxmlformats.org/drawingml/2006/main">
              <a:ext uri="{FF2B5EF4-FFF2-40B4-BE49-F238E27FC236}">
                <a16:creationId xmlns:a16="http://schemas.microsoft.com/office/drawing/2014/main" id="{97EB7C73-D77C-4A60-B696-F7A744F9B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8150" y="1412050"/>
            <a:ext cx="6827700" cy="581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lvl="0" indent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Arial"/>
              <a:buNone/>
              <a:defRPr sz="2400" b="1">
                <a:solidFill>
                  <a:srgbClr val="0B4FB3"/>
                </a:solidFill>
              </a:defRPr>
            </a:pPr>
            <a:r>
              <a:rPr sz="2400" b="1">
                <a:solidFill>
                  <a:srgbClr val="0B4FB3"/>
                </a:solidFill>
                <a:latin typeface="Nunito"/>
                <a:ea typeface="Nunito"/>
                <a:cs typeface="Nunito"/>
              </a:rPr>
              <a:t>MLOps Pipeline for Tourism Package Prediction</a:t>
            </a:r>
            <a:endParaRPr sz="3600" b="1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03" name="Google Shape;103;p24">
            <a:extLst xmlns:a="http://schemas.openxmlformats.org/drawingml/2006/main">
              <a:ext uri="{FF2B5EF4-FFF2-40B4-BE49-F238E27FC236}">
                <a16:creationId xmlns:a16="http://schemas.microsoft.com/office/drawing/2014/main" id="{1B5B9616-532C-440A-ACBA-D815BE17A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000" y="2038575"/>
            <a:ext cx="6827700" cy="49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defRPr sz="1725">
                <a:solidFill>
                  <a:srgbClr val="1B5FDB"/>
                </a:solidFill>
              </a:defRPr>
            </a:pPr>
            <a:r>
              <a:rPr sz="1725">
                <a:solidFill>
                  <a:srgbClr val="1B5FDB"/>
                </a:solidFill>
                <a:latin typeface="Nunito"/>
                <a:ea typeface="Nunito"/>
                <a:cs typeface="Nunito"/>
              </a:rPr>
              <a:t>Done by Mazin Alahmadi</a:t>
            </a:r>
            <a:endParaRPr sz="3000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04" name="Google Shape;104;p24">
            <a:extLst xmlns:a="http://schemas.openxmlformats.org/drawingml/2006/main">
              <a:ext uri="{FF2B5EF4-FFF2-40B4-BE49-F238E27FC236}">
                <a16:creationId xmlns:a16="http://schemas.microsoft.com/office/drawing/2014/main" id="{94C7792B-13A7-43A1-A8F5-31E1E36F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000" y="2441950"/>
            <a:ext cx="6827700" cy="49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b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  <a:defRPr sz="1050">
                <a:solidFill>
                  <a:srgbClr val="1B5FDB"/>
                </a:solidFill>
              </a:defRPr>
            </a:pPr>
            <a:r>
              <a:rPr sz="1050" b="0" i="0" u="none" cap="none">
                <a:solidFill>
                  <a:srgbClr val="1B5FDB"/>
                </a:solidFill>
                <a:latin typeface="Nunito"/>
                <a:ea typeface="Nunito"/>
                <a:cs typeface="Nunito"/>
              </a:rPr>
              <a:t>August 29, 2026</a:t>
            </a:r>
            <a:endParaRPr sz="1600" b="0" i="0" u="none" cap="none">
              <a:solidFill>
                <a:srgbClr val="0E39A9"/>
              </a:solidFill>
              <a:latin typeface="Nunito"/>
              <a:ea typeface="Nunito"/>
              <a:cs typeface="Nunito"/>
            </a:endParaRPr>
          </a:p>
        </p:txBody>
      </p:sp>
    </p:spTree>
    <p:extLst>
      <p:ext uri="{BB962C8B-B14F-4D97-AF65-F5344CB8AC3E}">
        <p14:creationId xmlns:p14="http://schemas.microsoft.com/office/powerpoint/2010/main" val="118822625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9" name="Google Shape;109;p25">
            <a:extLst xmlns:a="http://schemas.openxmlformats.org/drawingml/2006/main">
              <a:ext uri="{FF2B5EF4-FFF2-40B4-BE49-F238E27FC236}">
                <a16:creationId xmlns:a16="http://schemas.microsoft.com/office/drawing/2014/main" id="{FC55846E-11FC-4248-91C4-2C4F9201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Contents / Agenda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0" name="Google Shape;110;p25">
            <a:extLst xmlns:a="http://schemas.openxmlformats.org/drawingml/2006/main">
              <a:ext uri="{FF2B5EF4-FFF2-40B4-BE49-F238E27FC236}">
                <a16:creationId xmlns:a16="http://schemas.microsoft.com/office/drawing/2014/main" id="{CAB1838B-EA46-456A-B6AF-6E54CBC19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Executive summary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Business overview and solution approach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Data registration and preparation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Customer insights from tourism data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building, tracking, and performance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Deployment and automated GitHub workflow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Output evidence, recommendations, and appendix</a:t>
            </a:r>
          </a:p>
        </p:txBody>
      </p:sp>
    </p:spTree>
    <p:extLst>
      <p:ext uri="{BB962C8B-B14F-4D97-AF65-F5344CB8AC3E}">
        <p14:creationId xmlns:p14="http://schemas.microsoft.com/office/powerpoint/2010/main" val="91830486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5" name="Google Shape;115;p26">
            <a:extLst xmlns:a="http://schemas.openxmlformats.org/drawingml/2006/main">
              <a:ext uri="{FF2B5EF4-FFF2-40B4-BE49-F238E27FC236}">
                <a16:creationId xmlns:a16="http://schemas.microsoft.com/office/drawing/2014/main" id="{208F9FBF-07C4-4C33-B456-4799B8D5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Executive Summary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16" name="Google Shape;116;p26">
            <a:extLst xmlns:a="http://schemas.openxmlformats.org/drawingml/2006/main">
              <a:ext uri="{FF2B5EF4-FFF2-40B4-BE49-F238E27FC236}">
                <a16:creationId xmlns:a16="http://schemas.microsoft.com/office/drawing/2014/main" id="{CEDDC716-271F-488E-891D-8F7B4C41A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The tourism campaign has a 19.3% package-purchase rate, so better targeting can materially improve sales productivity.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A completed MLOps pipeline now registers data, cleans and splits it, trains a tuned XGBoost model, and packages a deployable Streamlit app.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The best local model achieved 91.3% test accuracy, 76.4% precision, 79.4% recall, and 77.8% F1 at the selected threshold.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Business recommendation: prioritize high-probability customers first, then monitor conversion lift through the automated workflow.</a:t>
            </a:r>
          </a:p>
        </p:txBody>
      </p:sp>
    </p:spTree>
    <p:extLst>
      <p:ext uri="{BB962C8B-B14F-4D97-AF65-F5344CB8AC3E}">
        <p14:creationId xmlns:p14="http://schemas.microsoft.com/office/powerpoint/2010/main" val="99808501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7">
            <a:extLst xmlns:a="http://schemas.openxmlformats.org/drawingml/2006/main">
              <a:ext uri="{FF2B5EF4-FFF2-40B4-BE49-F238E27FC236}">
                <a16:creationId xmlns:a16="http://schemas.microsoft.com/office/drawing/2014/main" id="{D665F1D5-8035-47A4-8CB2-8A61B6D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Business Overview and Solution Approach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2" name="Google Shape;122;p27">
            <a:extLst xmlns:a="http://schemas.openxmlformats.org/drawingml/2006/main">
              <a:ext uri="{FF2B5EF4-FFF2-40B4-BE49-F238E27FC236}">
                <a16:creationId xmlns:a16="http://schemas.microsoft.com/office/drawing/2014/main" id="{C3E8B9C3-642A-47DA-A78E-D9858CB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Business problem: sales teams need to focus outreach on customers most likely to purchase a tourism package.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Decision lens: rank prospects before calling so high-fit customers receive faster and better-timed follow-up.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Solution: convert customer attributes into a purchase-probability score using a reproducible, deployment-ready ML workflow.</a:t>
            </a:r>
          </a:p>
          <a:p xmlns:a="http://schemas.openxmlformats.org/drawingml/2006/main">
            <a:pPr>
              <a:spcAft>
                <a:spcPts val="8"/>
              </a:spcAft>
              <a:defRPr sz="1275">
                <a:solidFill>
                  <a:srgbClr val="1B1B1B"/>
                </a:solidFill>
              </a:defRPr>
            </a:pPr>
            <a:r>
              <a:rPr sz="1275">
                <a:solidFill>
                  <a:srgbClr val="1B1B1B"/>
                </a:solidFill>
              </a:rPr>
              <a:t>•  Operating model: GitHub controls source code, Hugging Face stores data/model/app assets, and GitHub Actions runs the pipeline end to end.</a:t>
            </a:r>
          </a:p>
        </p:txBody>
      </p:sp>
    </p:spTree>
    <p:extLst>
      <p:ext uri="{BB962C8B-B14F-4D97-AF65-F5344CB8AC3E}">
        <p14:creationId xmlns:p14="http://schemas.microsoft.com/office/powerpoint/2010/main" val="1744527059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1" name="Google Shape;121;p27">
            <a:extLst xmlns:a="http://schemas.openxmlformats.org/drawingml/2006/main">
              <a:ext uri="{FF2B5EF4-FFF2-40B4-BE49-F238E27FC236}">
                <a16:creationId xmlns:a16="http://schemas.microsoft.com/office/drawing/2014/main" id="{D665F1D5-8035-47A4-8CB2-8A61B6D90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Data Registration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2" name="Google Shape;122;p27">
            <a:extLst xmlns:a="http://schemas.openxmlformats.org/drawingml/2006/main">
              <a:ext uri="{FF2B5EF4-FFF2-40B4-BE49-F238E27FC236}">
                <a16:creationId xmlns:a16="http://schemas.microsoft.com/office/drawing/2014/main" id="{C3E8B9C3-642A-47DA-A78E-D9858CB2D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Master project folder: tourism_project with data, model_building, deployment, hosting, reports, and models subfolders.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Raw data asset: tourism_project/data/tourism.csv, documented with a dataset README for governance.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dataset target: mazin903/tourism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Registration script creates or reuses the dataset repo and uploads the raw dataset files.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Benefit: the workflow has a single governed data source instead of manual file movement.</a:t>
            </a:r>
          </a:p>
        </p:txBody>
      </p:sp>
    </p:spTree>
    <p:extLst>
      <p:ext uri="{BB962C8B-B14F-4D97-AF65-F5344CB8AC3E}">
        <p14:creationId xmlns:p14="http://schemas.microsoft.com/office/powerpoint/2010/main" val="174452705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8">
            <a:extLst xmlns:a="http://schemas.openxmlformats.org/drawingml/2006/main">
              <a:ext uri="{FF2B5EF4-FFF2-40B4-BE49-F238E27FC236}">
                <a16:creationId xmlns:a16="http://schemas.microsoft.com/office/drawing/2014/main" id="{D5FE696A-B516-444C-9CE3-9817F219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Data Preparation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8" name="Google Shape;128;p28">
            <a:extLst xmlns:a="http://schemas.openxmlformats.org/drawingml/2006/main">
              <a:ext uri="{FF2B5EF4-FFF2-40B4-BE49-F238E27FC236}">
                <a16:creationId xmlns:a16="http://schemas.microsoft.com/office/drawing/2014/main" id="{F849ED0A-942B-4F50-8CC7-CC1E9E99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Loaded the tourism dataset from Hugging Face when credentials are available, with local fallback for development.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Removed generated index/customer ID fields, removed duplicates, and standardized inconsistent categorical values.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Imputed missing numeric values with medians and categorical values with modes.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Created a stratified 80/20 split: 3,208 training rows and 803 testing rows.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Saved cleaned, train, and test files locally and prepared automatic upload back to the dataset repo.</a:t>
            </a:r>
          </a:p>
        </p:txBody>
      </p:sp>
    </p:spTree>
    <p:extLst>
      <p:ext uri="{BB962C8B-B14F-4D97-AF65-F5344CB8AC3E}">
        <p14:creationId xmlns:p14="http://schemas.microsoft.com/office/powerpoint/2010/main" val="113786271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7" name="Google Shape;127;p28">
            <a:extLst xmlns:a="http://schemas.openxmlformats.org/drawingml/2006/main">
              <a:ext uri="{FF2B5EF4-FFF2-40B4-BE49-F238E27FC236}">
                <a16:creationId xmlns:a16="http://schemas.microsoft.com/office/drawing/2014/main" id="{D5FE696A-B516-444C-9CE3-9817F219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Customer Insights That Drive Targeting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28" name="Google Shape;128;p28">
            <a:extLst xmlns:a="http://schemas.openxmlformats.org/drawingml/2006/main">
              <a:ext uri="{FF2B5EF4-FFF2-40B4-BE49-F238E27FC236}">
                <a16:creationId xmlns:a16="http://schemas.microsoft.com/office/drawing/2014/main" id="{F849ED0A-942B-4F50-8CC7-CC1E9E99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Base purchase rate: 19.3%, confirming the need for selective campaign prioritization.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Passport holders convert at 35.9% versus 12.4% for non-passport customers.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Basic package prospects convert at 30.1%, the strongest product segment in the dataset.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Single customers convert at 30.9%, more than double married and divorced segments.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Recommendation: combine model scores with these high-conversion segments for call-list prioritization.</a:t>
            </a:r>
          </a:p>
        </p:txBody>
      </p:sp>
    </p:spTree>
    <p:extLst>
      <p:ext uri="{BB962C8B-B14F-4D97-AF65-F5344CB8AC3E}">
        <p14:creationId xmlns:p14="http://schemas.microsoft.com/office/powerpoint/2010/main" val="113786271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4" name="Google Shape;134;p29">
            <a:extLst xmlns:a="http://schemas.openxmlformats.org/drawingml/2006/main">
              <a:ext uri="{FF2B5EF4-FFF2-40B4-BE49-F238E27FC236}">
                <a16:creationId xmlns:a16="http://schemas.microsoft.com/office/drawing/2014/main" id="{A64EE7C2-5160-4A69-9F17-82DBBDB2A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Model Building with Experimentation Tracking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35" name="Google Shape;135;p29">
            <a:extLst xmlns:a="http://schemas.openxmlformats.org/drawingml/2006/main">
              <a:ext uri="{FF2B5EF4-FFF2-40B4-BE49-F238E27FC236}">
                <a16:creationId xmlns:a16="http://schemas.microsoft.com/office/drawing/2014/main" id="{E0955BDD-47C7-459D-B7F7-C2237E570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choice: XGBoost classifier with preprocessing for numeric and categorical fields.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Class imbalance handled with scale_pos_weight so minority buyers are not ignored.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Grid search evaluated 48 parameter/run combinations using F1 as the selection metric.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MLflow logs parameters, metrics, artifacts, model path, and threshold analysis for comparison.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Best model is packaged for Hugging Face Model Hub target: mazin903/tourism-package-model</a:t>
            </a:r>
          </a:p>
        </p:txBody>
      </p:sp>
    </p:spTree>
    <p:extLst>
      <p:ext uri="{BB962C8B-B14F-4D97-AF65-F5344CB8AC3E}">
        <p14:creationId xmlns:p14="http://schemas.microsoft.com/office/powerpoint/2010/main" val="191791377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35">
            <a:extLst xmlns:a="http://schemas.openxmlformats.org/drawingml/2006/main">
              <a:ext uri="{FF2B5EF4-FFF2-40B4-BE49-F238E27FC236}">
                <a16:creationId xmlns:a16="http://schemas.microsoft.com/office/drawing/2014/main" id="{1080B06C-BED5-4433-A1CB-4EB6C88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Model Performance and Decision Threshold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1" name="Google Shape;171;p35">
            <a:extLst xmlns:a="http://schemas.openxmlformats.org/drawingml/2006/main">
              <a:ext uri="{FF2B5EF4-FFF2-40B4-BE49-F238E27FC236}">
                <a16:creationId xmlns:a16="http://schemas.microsoft.com/office/drawing/2014/main" id="{8DCDD439-2AD8-4E17-8144-5896794F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Selected threshold: 0.50, chosen for the best local F1 with a balanced precision/recall tradeoff.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Test performance: 91.3% accuracy, 76.4% precision, 79.4% recall, 77.8% F1.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Business meaning: most predicted buyers are actionable, while recall still captures nearly four out of five actual buyers.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Top signals: Passport, Basic package, Single marital status, Executive designation, and CityTier.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Operational use: score prospects, prioritize top-probability leads, and monitor uplift after deployment.</a:t>
            </a:r>
          </a:p>
        </p:txBody>
      </p:sp>
    </p:spTree>
    <p:extLst>
      <p:ext uri="{BB962C8B-B14F-4D97-AF65-F5344CB8AC3E}">
        <p14:creationId xmlns:p14="http://schemas.microsoft.com/office/powerpoint/2010/main" val="2613369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1" name="Google Shape;141;p30">
            <a:extLst xmlns:a="http://schemas.openxmlformats.org/drawingml/2006/main">
              <a:ext uri="{FF2B5EF4-FFF2-40B4-BE49-F238E27FC236}">
                <a16:creationId xmlns:a16="http://schemas.microsoft.com/office/drawing/2014/main" id="{200045EF-1ACA-4A4E-B4D4-1C736E256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chemeClr val="lt1"/>
                </a:highlight>
                <a:latin typeface="Nunito"/>
                <a:ea typeface="Nunito"/>
                <a:cs typeface="Nunito"/>
              </a:rPr>
              <a:t>Model Deployment</a:t>
            </a:r>
            <a:endParaRPr sz="2200" b="1" i="0" u="none" cap="none">
              <a:solidFill>
                <a:schemeClr val="dk1"/>
              </a:solidFill>
              <a:highlight>
                <a:schemeClr val="lt1"/>
              </a:highlight>
              <a:latin typeface="Nunito"/>
              <a:ea typeface="Nunito"/>
              <a:cs typeface="Nunito"/>
            </a:endParaRPr>
          </a:p>
        </p:txBody>
      </p:sp>
      <p:sp>
        <p:nvSpPr>
          <p:cNvPr id="142" name="Google Shape;142;p30">
            <a:extLst xmlns:a="http://schemas.openxmlformats.org/drawingml/2006/main">
              <a:ext uri="{FF2B5EF4-FFF2-40B4-BE49-F238E27FC236}">
                <a16:creationId xmlns:a16="http://schemas.microsoft.com/office/drawing/2014/main" id="{6BFE5440-F81C-4808-AC7D-52985153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Deployment surface: Streamlit app packaged with a Dockerfile for Hugging Face Spaces.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The app downloads the registered model bundle from Hugging Face Model Hub at startup.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User inputs are converted into the same feature schema used during model training.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Output: purchase probability, decision threshold, and a business-friendly follow-up recommendation.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Space target: mazin903/tourism-package-prediction</a:t>
            </a:r>
          </a:p>
        </p:txBody>
      </p:sp>
    </p:spTree>
    <p:extLst>
      <p:ext uri="{BB962C8B-B14F-4D97-AF65-F5344CB8AC3E}">
        <p14:creationId xmlns:p14="http://schemas.microsoft.com/office/powerpoint/2010/main" val="1626214306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7" name="Google Shape;147;p31">
            <a:extLst xmlns:a="http://schemas.openxmlformats.org/drawingml/2006/main">
              <a:ext uri="{FF2B5EF4-FFF2-40B4-BE49-F238E27FC236}">
                <a16:creationId xmlns:a16="http://schemas.microsoft.com/office/drawing/2014/main" id="{9A434EDF-9A69-423D-BB77-5862576CD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700" y="298554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Automated GitHub Actions Workflow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48" name="Google Shape;148;p31">
            <a:extLst xmlns:a="http://schemas.openxmlformats.org/drawingml/2006/main">
              <a:ext uri="{FF2B5EF4-FFF2-40B4-BE49-F238E27FC236}">
                <a16:creationId xmlns:a16="http://schemas.microsoft.com/office/drawing/2014/main" id="{27436AE2-818D-4267-9901-14B08BD4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350" y="10143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Trigger: push to main or manual workflow dispatch.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Pipeline steps: install dependencies, register dataset, clean/split data, generate analysis, train/register model, and deploy app.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Secrets and variables separate credentials from source code: HF_TOKEN, HF_USERNAME, dataset repo, model repo, and Space repo.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Generated processed data and reports are committed back to main with skip-ci protection.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Benefit: one repeatable workflow replaces manual notebook-only execution.</a:t>
            </a:r>
          </a:p>
        </p:txBody>
      </p:sp>
    </p:spTree>
    <p:extLst>
      <p:ext uri="{BB962C8B-B14F-4D97-AF65-F5344CB8AC3E}">
        <p14:creationId xmlns:p14="http://schemas.microsoft.com/office/powerpoint/2010/main" val="692806775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" name="Google Shape;153;p32">
            <a:extLst xmlns:a="http://schemas.openxmlformats.org/drawingml/2006/main">
              <a:ext uri="{FF2B5EF4-FFF2-40B4-BE49-F238E27FC236}">
                <a16:creationId xmlns:a16="http://schemas.microsoft.com/office/drawing/2014/main" id="{D9C90942-4E94-4A01-9C1B-892F24EFC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Output Evaluation Evidence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54" name="Google Shape;154;p32">
            <a:extLst xmlns:a="http://schemas.openxmlformats.org/drawingml/2006/main">
              <a:ext uri="{FF2B5EF4-FFF2-40B4-BE49-F238E27FC236}">
                <a16:creationId xmlns:a16="http://schemas.microsoft.com/office/drawing/2014/main" id="{30C29CA2-B20F-4D4B-B3DE-AD88B3219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GitHub repository: https://github.com/mazin903/MLOps-pipeline-on-GitHub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dataset: https://huggingface.co/datasets/mazin903/tourism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Hugging Face model: https://huggingface.co/mazin903/tourism-package-model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Streamlit app on Hugging Face Space: https://huggingface.co/spaces/mazin903/tourism-package-prediction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Screenshots to capture after first account run: repo folder structure, green GitHub Actions workflow, Hugging Face dataset/model pages, and Streamlit app result.</a:t>
            </a:r>
          </a:p>
        </p:txBody>
      </p:sp>
    </p:spTree>
    <p:extLst>
      <p:ext uri="{BB962C8B-B14F-4D97-AF65-F5344CB8AC3E}">
        <p14:creationId xmlns:p14="http://schemas.microsoft.com/office/powerpoint/2010/main" val="14972674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Google Shape;159;p3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a77bf71dad9442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0" y="2692825"/>
            <a:ext cx="8893198" cy="85092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  <p:extLst>
      <p:ext uri="{BB962C8B-B14F-4D97-AF65-F5344CB8AC3E}">
        <p14:creationId xmlns:p14="http://schemas.microsoft.com/office/powerpoint/2010/main" val="144409658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4" name="Google Shape;164;p34">
            <a:extLst xmlns:a="http://schemas.openxmlformats.org/drawingml/2006/main">
              <a:ext uri="{FF2B5EF4-FFF2-40B4-BE49-F238E27FC236}">
                <a16:creationId xmlns:a16="http://schemas.microsoft.com/office/drawing/2014/main" id="{DE1ABB6C-4568-40B7-BF66-DB8B58BA3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Dataset Overview and Registration Details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65" name="Google Shape;165;p34">
            <a:extLst xmlns:a="http://schemas.openxmlformats.org/drawingml/2006/main">
              <a:ext uri="{FF2B5EF4-FFF2-40B4-BE49-F238E27FC236}">
                <a16:creationId xmlns:a16="http://schemas.microsoft.com/office/drawing/2014/main" id="{05D41B69-831C-456E-B430-C4FC9D0A9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Source file: tourism.csv with customer demographics, interaction history, product pitch attributes, and purchase outcome.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Target variable: ProdTaken, where 1 means the customer purchased the package and 0 means they did not.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features include age, income, city tier, follow-ups, satisfaction, passport, car ownership, occupation, package pitched, and designation.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Processed outputs: cleaned_tourism.csv, Xtrain.csv, Xtest.csv, ytrain.csv, and ytest.csv.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Registration plan: raw and processed files are uploaded to the Hugging Face dataset repo for reproducible downstream steps.</a:t>
            </a:r>
          </a:p>
        </p:txBody>
      </p:sp>
    </p:spTree>
    <p:extLst>
      <p:ext uri="{BB962C8B-B14F-4D97-AF65-F5344CB8AC3E}">
        <p14:creationId xmlns:p14="http://schemas.microsoft.com/office/powerpoint/2010/main" val="189617928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0" name="Google Shape;170;p35">
            <a:extLst xmlns:a="http://schemas.openxmlformats.org/drawingml/2006/main">
              <a:ext uri="{FF2B5EF4-FFF2-40B4-BE49-F238E27FC236}">
                <a16:creationId xmlns:a16="http://schemas.microsoft.com/office/drawing/2014/main" id="{1080B06C-BED5-4433-A1CB-4EB6C88D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highlight>
                  <a:srgbClr val="FFFFFF"/>
                </a:highlight>
                <a:latin typeface="Nunito"/>
                <a:ea typeface="Nunito"/>
                <a:cs typeface="Nunito"/>
              </a:rPr>
              <a:t>Experimentation Tracking Details</a:t>
            </a:r>
            <a:endParaRPr sz="2200" b="1" i="0" u="none" cap="none">
              <a:solidFill>
                <a:srgbClr val="000000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1" name="Google Shape;171;p35">
            <a:extLst xmlns:a="http://schemas.openxmlformats.org/drawingml/2006/main">
              <a:ext uri="{FF2B5EF4-FFF2-40B4-BE49-F238E27FC236}">
                <a16:creationId xmlns:a16="http://schemas.microsoft.com/office/drawing/2014/main" id="{8DCDD439-2AD8-4E17-8144-5896794F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Algorithm: XGBoost classifier selected from the assignment-approved model family.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Tuning grid: n_estimators 100/200, max_depth 3/5, learning_rate 0.05/0.10, reg_lambda 1.0/5.0, colsample values 0.8.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Best parameters: n_estimators 200, max_depth 5, learning_rate 0.10, reg_lambda 1.0.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Tracked artifacts: metrics, classification report, threshold analysis, feature importance, and joblib model bundle.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Model Hub registration stores the trained model and model card for deployment reuse.</a:t>
            </a:r>
          </a:p>
        </p:txBody>
      </p:sp>
    </p:spTree>
    <p:extLst>
      <p:ext uri="{BB962C8B-B14F-4D97-AF65-F5344CB8AC3E}">
        <p14:creationId xmlns:p14="http://schemas.microsoft.com/office/powerpoint/2010/main" val="2613369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36">
            <a:extLst xmlns:a="http://schemas.openxmlformats.org/drawingml/2006/main">
              <a:ext uri="{FF2B5EF4-FFF2-40B4-BE49-F238E27FC236}">
                <a16:creationId xmlns:a16="http://schemas.microsoft.com/office/drawing/2014/main" id="{FA5B8316-8084-4E62-956A-B9CBEC9B8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289279"/>
            <a:ext cx="8520600" cy="572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  <a:defRPr sz="2100" b="1">
                <a:solidFill>
                  <a:srgbClr val="1B1B1B"/>
                </a:solidFill>
              </a:defRPr>
            </a:pPr>
            <a:r>
              <a:rPr sz="2100" b="1" i="0" u="none" cap="none">
                <a:solidFill>
                  <a:srgbClr val="1B1B1B"/>
                </a:solidFill>
                <a:latin typeface="Nunito"/>
                <a:ea typeface="Nunito"/>
                <a:cs typeface="Nunito"/>
              </a:rPr>
              <a:t>GitHub Actions Workflow Details</a:t>
            </a:r>
            <a:endParaRPr sz="2200" b="1" i="0" u="none" cap="none">
              <a:solidFill>
                <a:schemeClr val="dk1"/>
              </a:solidFill>
              <a:latin typeface="Nunito"/>
              <a:ea typeface="Nunito"/>
              <a:cs typeface="Nunito"/>
            </a:endParaRPr>
          </a:p>
        </p:txBody>
      </p:sp>
      <p:sp>
        <p:nvSpPr>
          <p:cNvPr id="177" name="Google Shape;177;p36">
            <a:extLst xmlns:a="http://schemas.openxmlformats.org/drawingml/2006/main">
              <a:ext uri="{FF2B5EF4-FFF2-40B4-BE49-F238E27FC236}">
                <a16:creationId xmlns:a16="http://schemas.microsoft.com/office/drawing/2014/main" id="{B91A998A-827F-4F0D-9099-8714A4618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550" y="861975"/>
            <a:ext cx="8629800" cy="370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91425" rIns="91425" bIns="91425" anchor="t">
            <a:noAutofit/>
          </a:bodyPr>
          <a:lstStyle xmlns:a="http://schemas.openxmlformats.org/drawingml/2006/main"/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Repository-ready workflow: .github/workflows/pipeline.yml.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1: install Python dependencies and validate the project environment.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2: register raw data, prepare train/test assets, and generate business summary tables.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3: train the model, log results, and upload the best bundle to Hugging Face Model Hub.</a:t>
            </a:r>
          </a:p>
          <a:p xmlns:a="http://schemas.openxmlformats.org/drawingml/2006/main">
            <a:pPr>
              <a:spcAft>
                <a:spcPts val="8"/>
              </a:spcAft>
              <a:defRPr sz="1163">
                <a:solidFill>
                  <a:srgbClr val="1B1B1B"/>
                </a:solidFill>
              </a:defRPr>
            </a:pPr>
            <a:r>
              <a:rPr sz="1163">
                <a:solidFill>
                  <a:srgbClr val="1B1B1B"/>
                </a:solidFill>
              </a:rPr>
              <a:t>•  Step 4: push Streamlit deployment files to Hugging Face Spaces and commit generated reports back to main.</a:t>
            </a:r>
          </a:p>
        </p:txBody>
      </p:sp>
    </p:spTree>
    <p:extLst>
      <p:ext uri="{BB962C8B-B14F-4D97-AF65-F5344CB8AC3E}">
        <p14:creationId xmlns:p14="http://schemas.microsoft.com/office/powerpoint/2010/main" val="1930700014"/>
      </p:ext>
    </p:extLst>
  </p:cSld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2026-08-29T18:53:57.0330000Z</dcterms:created>
  <dcterms:modified xsi:type="dcterms:W3CDTF">2026-08-29T18:53:57.0330000Z</dcterms:modified>
</coreProperties>
</file>