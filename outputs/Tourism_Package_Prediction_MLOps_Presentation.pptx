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4ea95e75446a2" /><Relationship Type="http://schemas.openxmlformats.org/officeDocument/2006/relationships/extended-properties" Target="/docProps/app.xml" Id="R523c7c1815134b1e" /><Relationship Type="http://schemas.openxmlformats.org/officeDocument/2006/relationships/officeDocument" Target="/ppt/presentation.xml" Id="R67efa6d93b19474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2d1703e906340b8"/>
    <p:sldMasterId xmlns:r="http://schemas.openxmlformats.org/officeDocument/2006/relationships" id="2147483660" r:id="R89aa717df4324d2a"/>
  </p:sldMasterIdLst>
  <p:notesMasterIdLst>
    <p:notesMasterId xmlns:r="http://schemas.openxmlformats.org/officeDocument/2006/relationships" r:id="R2151f859f89b4a97"/>
  </p:notesMasterIdLst>
  <p:sldIdLst>
    <p:sldId xmlns:r="http://schemas.openxmlformats.org/officeDocument/2006/relationships" id="256" r:id="Ra8fe67c1400c4691"/>
    <p:sldId xmlns:r="http://schemas.openxmlformats.org/officeDocument/2006/relationships" id="257" r:id="R656dcf5020ae4147"/>
    <p:sldId xmlns:r="http://schemas.openxmlformats.org/officeDocument/2006/relationships" id="258" r:id="Racff931de0e44949"/>
    <p:sldId xmlns:r="http://schemas.openxmlformats.org/officeDocument/2006/relationships" id="259" r:id="R142f87a6b2914729"/>
    <p:sldId xmlns:r="http://schemas.openxmlformats.org/officeDocument/2006/relationships" id="260" r:id="R4be2d63066154dba"/>
    <p:sldId xmlns:r="http://schemas.openxmlformats.org/officeDocument/2006/relationships" id="261" r:id="R53582ea207394f42"/>
    <p:sldId xmlns:r="http://schemas.openxmlformats.org/officeDocument/2006/relationships" id="262" r:id="R4d18d07bc8734c7f"/>
    <p:sldId xmlns:r="http://schemas.openxmlformats.org/officeDocument/2006/relationships" id="263" r:id="Rd2767dcb71364b0e"/>
    <p:sldId xmlns:r="http://schemas.openxmlformats.org/officeDocument/2006/relationships" id="264" r:id="R82c70b0f6d734ea0"/>
    <p:sldId xmlns:r="http://schemas.openxmlformats.org/officeDocument/2006/relationships" id="265" r:id="R4ef8b7269851446a"/>
    <p:sldId xmlns:r="http://schemas.openxmlformats.org/officeDocument/2006/relationships" id="266" r:id="R45b92208f48a415e"/>
    <p:sldId xmlns:r="http://schemas.openxmlformats.org/officeDocument/2006/relationships" id="267" r:id="R19a59aa41ffb4caf"/>
    <p:sldId xmlns:r="http://schemas.openxmlformats.org/officeDocument/2006/relationships" id="268" r:id="R188c0703dcc743ed"/>
    <p:sldId xmlns:r="http://schemas.openxmlformats.org/officeDocument/2006/relationships" id="269" r:id="R539f19e286eb40df"/>
    <p:sldId xmlns:r="http://schemas.openxmlformats.org/officeDocument/2006/relationships" id="270" r:id="R4fd41e3bfc174a43"/>
    <p:sldId xmlns:r="http://schemas.openxmlformats.org/officeDocument/2006/relationships" id="271" r:id="R4e2e4730a9fa4e7c"/>
  </p:sldIdLst>
  <p:sldSz cx="9144000" cy="5143500"/>
  <p:notesSz cx="6858000" cy="9144000"/>
  <p:embeddedFontLst>
    <p:embeddedFont>
      <p:font typeface="Nunito SemiBold"/>
      <p:regular xmlns:r="http://schemas.openxmlformats.org/officeDocument/2006/relationships" r:id="R3d96ab86a2f7421d"/>
      <p:bold xmlns:r="http://schemas.openxmlformats.org/officeDocument/2006/relationships" r:id="R8f603572c6a24d39"/>
      <p:italic xmlns:r="http://schemas.openxmlformats.org/officeDocument/2006/relationships" r:id="R0a1a87a56e254cfc"/>
      <p:boldItalic xmlns:r="http://schemas.openxmlformats.org/officeDocument/2006/relationships" r:id="R9a918c21575e4c40"/>
    </p:embeddedFont>
    <p:embeddedFont>
      <p:font typeface="Nunito"/>
      <p:regular xmlns:r="http://schemas.openxmlformats.org/officeDocument/2006/relationships" r:id="Rc5375e4e3c4c4cdb"/>
      <p:bold xmlns:r="http://schemas.openxmlformats.org/officeDocument/2006/relationships" r:id="Re56e8490276b420f"/>
      <p:italic xmlns:r="http://schemas.openxmlformats.org/officeDocument/2006/relationships" r:id="R5fce3af166c64c34"/>
      <p:boldItalic xmlns:r="http://schemas.openxmlformats.org/officeDocument/2006/relationships" r:id="Rec7a9067f394432f"/>
    </p:embeddedFont>
    <p:embeddedFont>
      <p:font typeface="Nunito ExtraBold"/>
      <p:bold xmlns:r="http://schemas.openxmlformats.org/officeDocument/2006/relationships" r:id="R49d5236f4f6f4d67"/>
      <p:boldItalic xmlns:r="http://schemas.openxmlformats.org/officeDocument/2006/relationships" r:id="R4346a17f03ba4b2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7C2EA955-FAA9-4741-80A4-FAB2EC53E622}">
  <a:tblStyle styleId="{7C2EA955-FAA9-4741-80A4-FAB2EC53E6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9f860a69c4d6c" /><Relationship Type="http://schemas.openxmlformats.org/officeDocument/2006/relationships/slideMaster" Target="/ppt/slideMasters/slideMaster1.xml" Id="R12d1703e906340b8" /><Relationship Type="http://schemas.openxmlformats.org/officeDocument/2006/relationships/slideMaster" Target="/ppt/slideMasters/slideMaster2.xml" Id="R89aa717df4324d2a" /><Relationship Type="http://schemas.openxmlformats.org/officeDocument/2006/relationships/notesMaster" Target="/ppt/notesMasters/notesMaster1.xml" Id="R2151f859f89b4a97" /><Relationship Type="http://schemas.openxmlformats.org/officeDocument/2006/relationships/presProps" Target="/ppt/presProps.xml" Id="R4922e66e02cd4209" /><Relationship Type="http://schemas.openxmlformats.org/officeDocument/2006/relationships/viewProps" Target="/ppt/viewProps.xml" Id="Rc7276ece182b4c67" /><Relationship Type="http://schemas.openxmlformats.org/officeDocument/2006/relationships/tableStyles" Target="/ppt/tableStyles.xml" Id="Rc52529cb76524d4f" /><Relationship Type="http://schemas.openxmlformats.org/officeDocument/2006/relationships/font" Target="/ppt/fonts/font.dat" Id="R3d96ab86a2f7421d" /><Relationship Type="http://schemas.openxmlformats.org/officeDocument/2006/relationships/font" Target="/ppt/fonts/font2.dat" Id="R8f603572c6a24d39" /><Relationship Type="http://schemas.openxmlformats.org/officeDocument/2006/relationships/font" Target="/ppt/fonts/font3.dat" Id="R0a1a87a56e254cfc" /><Relationship Type="http://schemas.openxmlformats.org/officeDocument/2006/relationships/font" Target="/ppt/fonts/font4.dat" Id="R9a918c21575e4c40" /><Relationship Type="http://schemas.openxmlformats.org/officeDocument/2006/relationships/font" Target="/ppt/fonts/font5.dat" Id="Rc5375e4e3c4c4cdb" /><Relationship Type="http://schemas.openxmlformats.org/officeDocument/2006/relationships/font" Target="/ppt/fonts/font6.dat" Id="Re56e8490276b420f" /><Relationship Type="http://schemas.openxmlformats.org/officeDocument/2006/relationships/font" Target="/ppt/fonts/font7.dat" Id="R5fce3af166c64c34" /><Relationship Type="http://schemas.openxmlformats.org/officeDocument/2006/relationships/font" Target="/ppt/fonts/font8.dat" Id="Rec7a9067f394432f" /><Relationship Type="http://schemas.openxmlformats.org/officeDocument/2006/relationships/font" Target="/ppt/fonts/font9.dat" Id="R49d5236f4f6f4d67" /><Relationship Type="http://schemas.openxmlformats.org/officeDocument/2006/relationships/font" Target="/ppt/fonts/font10.dat" Id="R4346a17f03ba4b29" /><Relationship Type="http://schemas.openxmlformats.org/officeDocument/2006/relationships/slide" Target="/ppt/slides/slide1.xml" Id="Ra8fe67c1400c4691" /><Relationship Type="http://schemas.openxmlformats.org/officeDocument/2006/relationships/slide" Target="/ppt/slides/slide2.xml" Id="R656dcf5020ae4147" /><Relationship Type="http://schemas.openxmlformats.org/officeDocument/2006/relationships/slide" Target="/ppt/slides/slide3.xml" Id="Racff931de0e44949" /><Relationship Type="http://schemas.openxmlformats.org/officeDocument/2006/relationships/slide" Target="/ppt/slides/slide4.xml" Id="R142f87a6b2914729" /><Relationship Type="http://schemas.openxmlformats.org/officeDocument/2006/relationships/slide" Target="/ppt/slides/slide5.xml" Id="R4be2d63066154dba" /><Relationship Type="http://schemas.openxmlformats.org/officeDocument/2006/relationships/slide" Target="/ppt/slides/slide6.xml" Id="R53582ea207394f42" /><Relationship Type="http://schemas.openxmlformats.org/officeDocument/2006/relationships/slide" Target="/ppt/slides/slide7.xml" Id="R4d18d07bc8734c7f" /><Relationship Type="http://schemas.openxmlformats.org/officeDocument/2006/relationships/slide" Target="/ppt/slides/slide8.xml" Id="Rd2767dcb71364b0e" /><Relationship Type="http://schemas.openxmlformats.org/officeDocument/2006/relationships/slide" Target="/ppt/slides/slide9.xml" Id="R82c70b0f6d734ea0" /><Relationship Type="http://schemas.openxmlformats.org/officeDocument/2006/relationships/slide" Target="/ppt/slides/slide10.xml" Id="R4ef8b7269851446a" /><Relationship Type="http://schemas.openxmlformats.org/officeDocument/2006/relationships/slide" Target="/ppt/slides/slide11.xml" Id="R45b92208f48a415e" /><Relationship Type="http://schemas.openxmlformats.org/officeDocument/2006/relationships/slide" Target="/ppt/slides/slide12.xml" Id="R19a59aa41ffb4caf" /><Relationship Type="http://schemas.openxmlformats.org/officeDocument/2006/relationships/slide" Target="/ppt/slides/slide13.xml" Id="R188c0703dcc743ed" /><Relationship Type="http://schemas.openxmlformats.org/officeDocument/2006/relationships/slide" Target="/ppt/slides/slide14.xml" Id="R539f19e286eb40df" /><Relationship Type="http://schemas.openxmlformats.org/officeDocument/2006/relationships/slide" Target="/ppt/slides/slide15.xml" Id="R4fd41e3bfc174a43" /><Relationship Type="http://schemas.openxmlformats.org/officeDocument/2006/relationships/slide" Target="/ppt/slides/slide16.xml" Id="R4e2e4730a9fa4e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b76f9fba5b344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e03f198cb04f22" /><Relationship Type="http://schemas.openxmlformats.org/officeDocument/2006/relationships/notesMaster" Target="/ppt/notesMasters/notesMaster1.xml" Id="R6d12334c7e1746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d1b383f5234b8d" /><Relationship Type="http://schemas.openxmlformats.org/officeDocument/2006/relationships/notesMaster" Target="/ppt/notesMasters/notesMaster1.xml" Id="Rd96d48840b80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1025645b8c461e" /><Relationship Type="http://schemas.openxmlformats.org/officeDocument/2006/relationships/notesMaster" Target="/ppt/notesMasters/notesMaster1.xml" Id="R1f7e53fd966c43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551318a124d14" /><Relationship Type="http://schemas.openxmlformats.org/officeDocument/2006/relationships/notesMaster" Target="/ppt/notesMasters/notesMaster1.xml" Id="Rebcaf8cc7b5540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0f639fe1e84cd2" /><Relationship Type="http://schemas.openxmlformats.org/officeDocument/2006/relationships/notesMaster" Target="/ppt/notesMasters/notesMaster1.xml" Id="R5fa4e58c370940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7032722e704b23" /><Relationship Type="http://schemas.openxmlformats.org/officeDocument/2006/relationships/notesMaster" Target="/ppt/notesMasters/notesMaster1.xml" Id="Rec8596aaa9b749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11f8d353094d2d" /><Relationship Type="http://schemas.openxmlformats.org/officeDocument/2006/relationships/notesMaster" Target="/ppt/notesMasters/notesMaster1.xml" Id="R4c29e7adafc24f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035e5876c24110" /><Relationship Type="http://schemas.openxmlformats.org/officeDocument/2006/relationships/notesMaster" Target="/ppt/notesMasters/notesMaster1.xml" Id="R046c9db8d1354e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3d74d7a08640c4" /><Relationship Type="http://schemas.openxmlformats.org/officeDocument/2006/relationships/notesMaster" Target="/ppt/notesMasters/notesMaster1.xml" Id="Rd06a898fd41f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9bea6eb1b64111" /><Relationship Type="http://schemas.openxmlformats.org/officeDocument/2006/relationships/notesMaster" Target="/ppt/notesMasters/notesMaster1.xml" Id="R62f2650796704e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79b2429ef14a09" /><Relationship Type="http://schemas.openxmlformats.org/officeDocument/2006/relationships/notesMaster" Target="/ppt/notesMasters/notesMaster1.xml" Id="Ra1b27a1ca0b44a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fbae471de34786" /><Relationship Type="http://schemas.openxmlformats.org/officeDocument/2006/relationships/notesMaster" Target="/ppt/notesMasters/notesMaster1.xml" Id="Ra20011b7ac6a46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0d59b262d74f44" /><Relationship Type="http://schemas.openxmlformats.org/officeDocument/2006/relationships/notesMaster" Target="/ppt/notesMasters/notesMaster1.xml" Id="Rc95b6bd9fe1348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86f50e9e8a4088" /><Relationship Type="http://schemas.openxmlformats.org/officeDocument/2006/relationships/notesMaster" Target="/ppt/notesMasters/notesMaster1.xml" Id="R916d0fd813114b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d762d3e4374642" /><Relationship Type="http://schemas.openxmlformats.org/officeDocument/2006/relationships/notesMaster" Target="/ppt/notesMasters/notesMaster1.xml" Id="R13ccf3cabf504f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19cb4033c44a78" /><Relationship Type="http://schemas.openxmlformats.org/officeDocument/2006/relationships/notesMaster" Target="/ppt/notesMasters/notesMaster1.xml" Id="R25ef0410b71243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prompt.extracted.txt: assignment context and presentation audience.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required MLOps evidence areas.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User instruction: cover name spelling confirmed as Mazin Alahmadi.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prompt.extracted.txt: visible deck should focus on business analysis, not code.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agenda mirrors scoring categories.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tourism_project/reports/business_summary.json: 4,011 customers, 774 buyers, 19.3% conversion.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local test metrics from the trained model.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tourism_project/model_building/train.py: model training and threshold selection.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prompt.extracted.txt: prepare business overview, solution approach, insights, recommendations, and benefits.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GitHub, Hugging Face, deployment, and workflow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tourism_project/model_building/data_register.py: dataset repository creation and raw data upload.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tourism_project/data/README.md: dataset card content.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Data Registration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tourism_project/model_building/prep.py: data loading, cleaning, splitting, and processed upload logic.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tourism_project/data/processed/*.csv: generated cleaned, train, and test files.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Data Preparation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tourism_project/reports/business_summary.json: base conversion and summarized takeaways.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tourism_project/reports/conversion_by_Passport.csv: passport segment conversion.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tourism_project/reports/conversion_by_ProductPitched.csv: product segment conversion.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tourism_project/reports/conversion_by_MaritalStatus.csv: marital-status segment conversion.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tourism_project/model_building/train.py: preprocessing, XGBoost training, grid search, MLflow logging, and model packaging.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model performance.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tourism_project/model_building/model_card.md: Model Hub documentation.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tourism_project/reports/threshold_analysis.csv: threshold comparison table.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selected-threshold test metrics.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tourism_project/reports/feature_importance.csv: top model drivers.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tourism_project/deployment/app.py: Streamlit scoring app and model download logic.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tourism_project/deployment/Dockerfile: container configuration.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tourism_project/hosting/hosting.py: Hugging Face Space upload script.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Deployment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.github/workflows/pipeline.yml: GitHub Actions pipeline definition.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.env.example: required environment variables.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GitHub Actions scoring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Output Evaluation requires links and screenshots.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README.md: local run, Colab run, account setup, and repository structure.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Pending user inputs: final GitHub repository full name and Hugging Face username.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Source slide 10 preserved as the appendix divider.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tourism_project/config.py: feature lists and target variable.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tourism_project/data/README.md: dataset documentation.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tourism_project/model_building/prep.py: generated processed outputs.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tourism_project/model_building/train.py: approved algorithm, tuning grid, MLflow logging, and model hub upload.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tourism_project/reports/metrics.json: evaluation metrics.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tourism_project/reports/feature_importance.csv: feature importance outputs.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.github/workflows/pipeline.yml: CI/CD implementation.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tourism_project/hosting/hosting.py: deployment upload.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criteria rubrics.extracted.txt: workflow evidence and automatic push-back requirements.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790ea2a3b41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ee11b5ee644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c2917564843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386bcc7a142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e167ef4594d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148d51b6a4b7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d22dac368482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ef747646c246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aa785873840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88770d9fd44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0521b98234e7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e799601882476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dd1c034dbd428d" /><Relationship Type="http://schemas.openxmlformats.org/officeDocument/2006/relationships/image" Target="/ppt/media/image2.png" Id="R13830c639a3c4e9e" /><Relationship Type="http://schemas.openxmlformats.org/officeDocument/2006/relationships/image" Target="/ppt/media/image3.png" Id="R8b8cfa8a4ff3472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aa6e6d6fe5489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974b399a304da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d0e1aed5b5450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f4e4240c1b441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6aaf7a43934bd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c2a32c7ac84ed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b9a7e2782d473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773bae649b48f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97FC1AC-25DC-46F0-96CC-2A652277F9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324E1F2-F052-4C24-A0AA-C0E726D224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B78FCD01-4E7D-43F9-96F1-64CE403A25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556162A-2B5D-4C99-8C0F-5D188F69B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246473B-90B9-4D97-B99D-0299003E48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05BAA5F-9955-4159-B9ED-F192C7501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0EEDE71D-EA1A-433C-BEAB-848884CF34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4F00358-3E15-49A1-A9FC-D1C243EADE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A318160-EF8A-482E-A872-F6A79A334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5DA7323-ED3E-45C2-AE33-3E6705DB4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61613E98-082F-42B8-B0DA-4DD212C9D8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679412A7-02B6-412E-AD7F-D71A82A732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4D3E247-556A-4BBA-AF5D-3CE7E3B1F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39473B15-935E-4D52-B991-A92CE0643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929D6711-0D70-4A1D-8BEC-E75136663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7DAD4E78-3171-4984-AAF2-742847487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9201E891-4299-48D8-96BB-BEB87D7E11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ACDA31A1-BA68-4F3B-BDF7-E0D863574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031AB7A-B788-488D-9B15-B4FCBEC33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B2DB13A5-6E78-4691-B497-7A4528D7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5AA03E8B-6F12-4D64-A46E-282D78029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BF9C787-EACE-4906-B76D-B6C4355C89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BFD0EE2D-E225-416B-853A-8DEBF7567F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5F908037-37F3-4000-A9C4-942F988F4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5152DF0-6E86-43E8-8EC9-55E54B119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70086186-FE6E-4FE6-821B-FF093B846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F87C8D79-AEBD-4C12-9C84-10B3B6C1B88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47F4E37F-311D-4823-B027-F3FF7EF9D3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C4C66F7-7701-43BA-B626-EC3661C0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A09839EE-9729-4144-BD45-EC93E189A8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6492E472-E765-4C14-BD4A-E132DF547C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10208" y="744575"/>
            <a:ext cx="66222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306B3743-21D0-4666-BD82-D5B78FDD5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10202" y="2834125"/>
            <a:ext cx="66222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matchingName="Blank 1">
  <p:cSld name="BLANK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D02ACAC4-623F-4E66-BB2F-2E72A703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335"/>
            <a:ext cx="9144600" cy="514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0" name="Google Shape;64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830c639a3c4e9e">
            <a:alphaModFix/>
          </a:blip>
          <a:srcRect xmlns:a="http://schemas.openxmlformats.org/drawingml/2006/main" l="42816" t="18359" r="37297" b="19152"/>
          <a:stretch xmlns:a="http://schemas.openxmlformats.org/drawingml/2006/main"/>
        </p:blipFill>
        <p:spPr>
          <a:xfrm xmlns:a="http://schemas.openxmlformats.org/drawingml/2006/main">
            <a:off x="6052536" y="514443"/>
            <a:ext cx="2095112" cy="3703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ABBA9FE9-D46A-4ABA-980B-805543E09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129" y="6703219"/>
            <a:ext cx="15008700" cy="6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12850" rIns="0" bIns="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E2147B1C-C98C-4443-9179-59FC233E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65" y="1676232"/>
            <a:ext cx="43728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sz="3300" b="0" i="0" u="non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</a:rPr>
              <a:t>Happy Learning !</a:t>
            </a:r>
            <a:endParaRPr sz="3300" b="0" i="0" u="none" cap="none">
              <a:solidFill>
                <a:schemeClr val="lt1"/>
              </a:solidFill>
              <a:latin typeface="Nunito ExtraBold"/>
              <a:ea typeface="Nunito ExtraBold"/>
              <a:cs typeface="Nunito ExtraBold"/>
            </a:endParaRPr>
          </a:p>
        </p:txBody>
      </p:sp>
      <p:pic>
        <p:nvPicPr>
          <p:cNvPr id="73" name="Google Shape;67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8cfa8a4ff347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5874" y="683275"/>
            <a:ext cx="3757725" cy="825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6D472DCC-F4C6-40D9-9FB5-BAC94218E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B27B9885-4518-4B44-90E0-855194298B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17">
            <a:extLst xmlns:a="http://schemas.openxmlformats.org/drawingml/2006/main">
              <a:ext uri="{FF2B5EF4-FFF2-40B4-BE49-F238E27FC236}">
                <a16:creationId xmlns:a16="http://schemas.microsoft.com/office/drawing/2014/main" id="{6FF87131-AD5B-4B16-AD48-0D6029816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117D7CE6-9F12-458D-9FA8-AD546A8285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</a:defRPr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</a:defRPr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CADFB1A9-99C3-4CF3-AFC6-C328EC88F6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Table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8">
            <a:extLst xmlns:a="http://schemas.openxmlformats.org/drawingml/2006/main">
              <a:ext uri="{FF2B5EF4-FFF2-40B4-BE49-F238E27FC236}">
                <a16:creationId xmlns:a16="http://schemas.microsoft.com/office/drawing/2014/main" id="{F96DFF44-42E6-4D7A-8B1C-87E696244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graphicFrame>
        <p:nvGraphicFramePr>
          <p:cNvPr id="81" name="Google Shape;77;p18"/>
          <p:cNvGraphicFramePr/>
          <p:nvPr/>
        </p:nvGraphicFramePr>
        <p:xfrm>
          <a:off xmlns:a="http://schemas.openxmlformats.org/drawingml/2006/main" x="201942" y="83366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{7C2EA955-FAA9-4741-80A4-FAB2EC53E622}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Cluster Profile 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cap="none">
                          <a:latin typeface="Nunito"/>
                          <a:ea typeface="Nunito"/>
                          <a:cs typeface="Nunito"/>
                        </a:rPr>
                        <a:t>Business Insights for Marketing Team</a:t>
                      </a:r>
                      <a:endParaRPr sz="14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1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High value customers who have many credit cards and prefer to engage online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Engage Online – Set up priority calling in lines – Upsell and Cross sell premium products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2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..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3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u="none" cap="none">
                          <a:latin typeface="Nunito"/>
                          <a:ea typeface="Nunito"/>
                          <a:cs typeface="Nunito"/>
                        </a:rPr>
                        <a:t>…</a:t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>
                        <a:latin typeface="Nunito"/>
                        <a:ea typeface="Nunito"/>
                        <a:cs typeface="Nunito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rgbClr val="7F7F7F"/>
                      </a:solidFill>
                      <a:prstDash val="solid"/>
                    </a:lnL>
                    <a:lnR w="12700" cmpd="sng">
                      <a:solidFill>
                        <a:srgbClr val="7F7F7F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sp>
        <p:nvSpPr>
          <p:cNvPr id="78" name="Google Shape;78;p18">
            <a:extLst xmlns:a="http://schemas.openxmlformats.org/drawingml/2006/main">
              <a:ext uri="{FF2B5EF4-FFF2-40B4-BE49-F238E27FC236}">
                <a16:creationId xmlns:a16="http://schemas.microsoft.com/office/drawing/2014/main" id="{9700C45F-D80B-4D39-8D3A-D65B78A2E1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9">
            <a:extLst xmlns:a="http://schemas.openxmlformats.org/drawingml/2006/main">
              <a:ext uri="{FF2B5EF4-FFF2-40B4-BE49-F238E27FC236}">
                <a16:creationId xmlns:a16="http://schemas.microsoft.com/office/drawing/2014/main" id="{F8DAB412-7191-4CC2-A886-1988E8C24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81" name="Google Shape;81;p19">
            <a:extLst xmlns:a="http://schemas.openxmlformats.org/drawingml/2006/main">
              <a:ext uri="{FF2B5EF4-FFF2-40B4-BE49-F238E27FC236}">
                <a16:creationId xmlns:a16="http://schemas.microsoft.com/office/drawing/2014/main" id="{392B762B-0DDD-4CE6-9A3F-D56363C8B3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2" name="Google Shape;82;p19">
            <a:extLst xmlns:a="http://schemas.openxmlformats.org/drawingml/2006/main">
              <a:ext uri="{FF2B5EF4-FFF2-40B4-BE49-F238E27FC236}">
                <a16:creationId xmlns:a16="http://schemas.microsoft.com/office/drawing/2014/main" id="{F302A3A9-4B86-4209-9051-BD6ADF2A00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83" name="Google Shape;83;p19">
            <a:extLst xmlns:a="http://schemas.openxmlformats.org/drawingml/2006/main">
              <a:ext uri="{FF2B5EF4-FFF2-40B4-BE49-F238E27FC236}">
                <a16:creationId xmlns:a16="http://schemas.microsoft.com/office/drawing/2014/main" id="{B0D44E14-52C2-497E-A4CC-E5C16636E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20">
            <a:extLst xmlns:a="http://schemas.openxmlformats.org/drawingml/2006/main">
              <a:ext uri="{FF2B5EF4-FFF2-40B4-BE49-F238E27FC236}">
                <a16:creationId xmlns:a16="http://schemas.microsoft.com/office/drawing/2014/main" id="{420F9CBA-B9C5-4DC6-9346-10116F7D8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 xmlns:a="http://schemas.openxmlformats.org/drawingml/2006/main"/>
        </p:txBody>
      </p:sp>
      <p:sp>
        <p:nvSpPr>
          <p:cNvPr id="86" name="Google Shape;86;p20">
            <a:extLst xmlns:a="http://schemas.openxmlformats.org/drawingml/2006/main">
              <a:ext uri="{FF2B5EF4-FFF2-40B4-BE49-F238E27FC236}">
                <a16:creationId xmlns:a16="http://schemas.microsoft.com/office/drawing/2014/main" id="{ACE56D6B-8DF0-41EC-BEF1-F950CA6914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21">
            <a:extLst xmlns:a="http://schemas.openxmlformats.org/drawingml/2006/main">
              <a:ext uri="{FF2B5EF4-FFF2-40B4-BE49-F238E27FC236}">
                <a16:creationId xmlns:a16="http://schemas.microsoft.com/office/drawing/2014/main" id="{22B6F188-D60F-4ACC-9828-D5C6C110CA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89" name="Google Shape;89;p21">
            <a:extLst xmlns:a="http://schemas.openxmlformats.org/drawingml/2006/main">
              <a:ext uri="{FF2B5EF4-FFF2-40B4-BE49-F238E27FC236}">
                <a16:creationId xmlns:a16="http://schemas.microsoft.com/office/drawing/2014/main" id="{286B02B8-35F3-49DC-9F13-1F0996ECAE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22">
            <a:extLst xmlns:a="http://schemas.openxmlformats.org/drawingml/2006/main">
              <a:ext uri="{FF2B5EF4-FFF2-40B4-BE49-F238E27FC236}">
                <a16:creationId xmlns:a16="http://schemas.microsoft.com/office/drawing/2014/main" id="{7A57D00F-B420-45EA-ABAB-C3A1128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22">
            <a:extLst xmlns:a="http://schemas.openxmlformats.org/drawingml/2006/main">
              <a:ext uri="{FF2B5EF4-FFF2-40B4-BE49-F238E27FC236}">
                <a16:creationId xmlns:a16="http://schemas.microsoft.com/office/drawing/2014/main" id="{EB4901B9-8143-4742-A06A-A2C3EBB39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93" name="Google Shape;93;p22">
            <a:extLst xmlns:a="http://schemas.openxmlformats.org/drawingml/2006/main">
              <a:ext uri="{FF2B5EF4-FFF2-40B4-BE49-F238E27FC236}">
                <a16:creationId xmlns:a16="http://schemas.microsoft.com/office/drawing/2014/main" id="{88C0A895-EACD-4D2D-9E46-2E20DF477C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94" name="Google Shape;94;p22">
            <a:extLst xmlns:a="http://schemas.openxmlformats.org/drawingml/2006/main">
              <a:ext uri="{FF2B5EF4-FFF2-40B4-BE49-F238E27FC236}">
                <a16:creationId xmlns:a16="http://schemas.microsoft.com/office/drawing/2014/main" id="{A83A6BF1-2C81-43CE-94D2-9A0DF27AC4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5" name="Google Shape;95;p22">
            <a:extLst xmlns:a="http://schemas.openxmlformats.org/drawingml/2006/main">
              <a:ext uri="{FF2B5EF4-FFF2-40B4-BE49-F238E27FC236}">
                <a16:creationId xmlns:a16="http://schemas.microsoft.com/office/drawing/2014/main" id="{8F68F702-5C68-4716-8298-DF76EF6C55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23">
            <a:extLst xmlns:a="http://schemas.openxmlformats.org/drawingml/2006/main">
              <a:ext uri="{FF2B5EF4-FFF2-40B4-BE49-F238E27FC236}">
                <a16:creationId xmlns:a16="http://schemas.microsoft.com/office/drawing/2014/main" id="{C9F5BA81-3577-44FD-85DC-14A992427A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312c29160a4216" /><Relationship Type="http://schemas.openxmlformats.org/officeDocument/2006/relationships/slideLayout" Target="/ppt/slideLayouts/slideLayout1.xml" Id="R2603c1d97c2f4dfd" /><Relationship Type="http://schemas.openxmlformats.org/officeDocument/2006/relationships/slideLayout" Target="/ppt/slideLayouts/slideLayout2.xml" Id="Rd70098dc87e14a88" /><Relationship Type="http://schemas.openxmlformats.org/officeDocument/2006/relationships/slideLayout" Target="/ppt/slideLayouts/slideLayout3.xml" Id="R33542dc1f99d4ff3" /><Relationship Type="http://schemas.openxmlformats.org/officeDocument/2006/relationships/slideLayout" Target="/ppt/slideLayouts/slideLayout4.xml" Id="R31cee99df82749fc" /><Relationship Type="http://schemas.openxmlformats.org/officeDocument/2006/relationships/slideLayout" Target="/ppt/slideLayouts/slideLayout5.xml" Id="Rb337bb0d69b14e2d" /><Relationship Type="http://schemas.openxmlformats.org/officeDocument/2006/relationships/slideLayout" Target="/ppt/slideLayouts/slideLayout6.xml" Id="R1179593a9f5e4ba4" /><Relationship Type="http://schemas.openxmlformats.org/officeDocument/2006/relationships/slideLayout" Target="/ppt/slideLayouts/slideLayout7.xml" Id="Rfb87525b5f2a4833" /><Relationship Type="http://schemas.openxmlformats.org/officeDocument/2006/relationships/slideLayout" Target="/ppt/slideLayouts/slideLayout8.xml" Id="Reb459495ad0b415a" /><Relationship Type="http://schemas.openxmlformats.org/officeDocument/2006/relationships/slideLayout" Target="/ppt/slideLayouts/slideLayout9.xml" Id="R7b811ff943534043" /><Relationship Type="http://schemas.openxmlformats.org/officeDocument/2006/relationships/slideLayout" Target="/ppt/slideLayouts/slideLayout10.xml" Id="R94dbd51698a54c09" /><Relationship Type="http://schemas.openxmlformats.org/officeDocument/2006/relationships/slideLayout" Target="/ppt/slideLayouts/slideLayout11.xml" Id="R9c8935607d5a463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ba594ab98cb449f4" /><Relationship Type="http://schemas.openxmlformats.org/officeDocument/2006/relationships/theme" Target="/ppt/slideMasters/theme/theme3.xml" Id="R4ede80292183405e" /><Relationship Type="http://schemas.openxmlformats.org/officeDocument/2006/relationships/slideLayout" Target="/ppt/slideLayouts/slideLayout12.xml" Id="Ra73159d6d6a848a8" /><Relationship Type="http://schemas.openxmlformats.org/officeDocument/2006/relationships/slideLayout" Target="/ppt/slideLayouts/slideLayout13.xml" Id="R7900be7b8af245a8" /><Relationship Type="http://schemas.openxmlformats.org/officeDocument/2006/relationships/slideLayout" Target="/ppt/slideLayouts/slideLayout14.xml" Id="R3b62141c1ca24229" /><Relationship Type="http://schemas.openxmlformats.org/officeDocument/2006/relationships/slideLayout" Target="/ppt/slideLayouts/slideLayout15.xml" Id="Rf8500857f58945c6" /><Relationship Type="http://schemas.openxmlformats.org/officeDocument/2006/relationships/slideLayout" Target="/ppt/slideLayouts/slideLayout16.xml" Id="Ra1ffc644b6d2447a" /><Relationship Type="http://schemas.openxmlformats.org/officeDocument/2006/relationships/slideLayout" Target="/ppt/slideLayouts/slideLayout17.xml" Id="Radee7aacb4644249" /><Relationship Type="http://schemas.openxmlformats.org/officeDocument/2006/relationships/slideLayout" Target="/ppt/slideLayouts/slideLayout18.xml" Id="R3e5e75757c454cf0" /><Relationship Type="http://schemas.openxmlformats.org/officeDocument/2006/relationships/slideLayout" Target="/ppt/slideLayouts/slideLayout19.xml" Id="Raba723257cde47fc" /><Relationship Type="http://schemas.openxmlformats.org/officeDocument/2006/relationships/slideLayout" Target="/ppt/slideLayouts/slideLayout20.xml" Id="R77d18edb305942b6" /><Relationship Type="http://schemas.openxmlformats.org/officeDocument/2006/relationships/slideLayout" Target="/ppt/slideLayouts/slideLayout21.xml" Id="R048849b9ddca404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2571C84E-3CE1-4452-B454-1BF4FAF66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A716357-4FEF-40C4-ACC1-87E53C004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7CB17F9-ED88-41A3-B41E-2103675E24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03c1d97c2f4dfd"/>
    <p:sldLayoutId xmlns:r="http://schemas.openxmlformats.org/officeDocument/2006/relationships" id="2147483650" r:id="Rd70098dc87e14a88"/>
    <p:sldLayoutId xmlns:r="http://schemas.openxmlformats.org/officeDocument/2006/relationships" id="2147483651" r:id="R33542dc1f99d4ff3"/>
    <p:sldLayoutId xmlns:r="http://schemas.openxmlformats.org/officeDocument/2006/relationships" id="2147483652" r:id="R31cee99df82749fc"/>
    <p:sldLayoutId xmlns:r="http://schemas.openxmlformats.org/officeDocument/2006/relationships" id="2147483653" r:id="Rb337bb0d69b14e2d"/>
    <p:sldLayoutId xmlns:r="http://schemas.openxmlformats.org/officeDocument/2006/relationships" id="2147483654" r:id="R1179593a9f5e4ba4"/>
    <p:sldLayoutId xmlns:r="http://schemas.openxmlformats.org/officeDocument/2006/relationships" id="2147483655" r:id="Rfb87525b5f2a4833"/>
    <p:sldLayoutId xmlns:r="http://schemas.openxmlformats.org/officeDocument/2006/relationships" id="2147483656" r:id="Reb459495ad0b415a"/>
    <p:sldLayoutId xmlns:r="http://schemas.openxmlformats.org/officeDocument/2006/relationships" id="2147483657" r:id="R7b811ff943534043"/>
    <p:sldLayoutId xmlns:r="http://schemas.openxmlformats.org/officeDocument/2006/relationships" id="2147483658" r:id="R94dbd51698a54c09"/>
    <p:sldLayoutId xmlns:r="http://schemas.openxmlformats.org/officeDocument/2006/relationships" id="2147483659" r:id="R9c8935607d5a463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C62DA1CD-A47A-4EFC-80E9-A160FC20A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972" y="288368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5F0CF8A3-F91C-468B-B400-37DE445161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8610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1pPr>
            <a:lvl2pPr marL="914400" marR="0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2pPr>
            <a:lvl3pPr marL="1371600" marR="0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3pPr>
            <a:lvl4pPr marL="1828800" marR="0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4pPr>
            <a:lvl5pPr marL="2286000" marR="0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5pPr>
            <a:lvl6pPr marL="2743200" marR="0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6pPr>
            <a:lvl7pPr marL="3200400" marR="0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7pPr>
            <a:lvl8pPr marL="3657600" marR="0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8pPr>
            <a:lvl9pPr marL="4114800" marR="0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cap="none">
                <a:solidFill>
                  <a:schemeClr val="dk2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A6310921-373C-4268-8EA9-CA0D978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400" y="4917657"/>
            <a:ext cx="4675200" cy="27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12700" marR="0" lvl="0" indent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sz="7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rPr>
              <a:t>Proprietary content. © Great Learning. All Rights Reserved. Unauthorized use or distribution prohibited.</a:t>
            </a:r>
            <a:endParaRPr sz="700" b="1" i="0" u="none" cap="none">
              <a:solidFill>
                <a:srgbClr val="434343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7D92B6B-B4EC-4299-B33B-D2643C8DB3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32299" y="4946907"/>
            <a:ext cx="365400" cy="21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cap="none">
                <a:solidFill>
                  <a:srgbClr val="434343"/>
                </a:solidFill>
                <a:latin typeface="Nunito"/>
                <a:ea typeface="Nunito"/>
                <a:cs typeface="Nunito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4" name="Google Shape;5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594ab98cb449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669500" y="68264"/>
            <a:ext cx="1395476" cy="572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EAF79F2D-37B3-4EDA-B2E6-FFCE9EA0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10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9A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5BC823C4-D532-43B7-94EB-56FA3FA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93" y="353731"/>
            <a:ext cx="175500" cy="35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D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73159d6d6a848a8"/>
    <p:sldLayoutId xmlns:r="http://schemas.openxmlformats.org/officeDocument/2006/relationships" id="2147483662" r:id="R7900be7b8af245a8"/>
    <p:sldLayoutId xmlns:r="http://schemas.openxmlformats.org/officeDocument/2006/relationships" id="2147483663" r:id="R3b62141c1ca24229"/>
    <p:sldLayoutId xmlns:r="http://schemas.openxmlformats.org/officeDocument/2006/relationships" id="2147483664" r:id="Rf8500857f58945c6"/>
    <p:sldLayoutId xmlns:r="http://schemas.openxmlformats.org/officeDocument/2006/relationships" id="2147483665" r:id="Ra1ffc644b6d2447a"/>
    <p:sldLayoutId xmlns:r="http://schemas.openxmlformats.org/officeDocument/2006/relationships" id="2147483666" r:id="Radee7aacb4644249"/>
    <p:sldLayoutId xmlns:r="http://schemas.openxmlformats.org/officeDocument/2006/relationships" id="2147483667" r:id="R3e5e75757c454cf0"/>
    <p:sldLayoutId xmlns:r="http://schemas.openxmlformats.org/officeDocument/2006/relationships" id="2147483668" r:id="Raba723257cde47fc"/>
    <p:sldLayoutId xmlns:r="http://schemas.openxmlformats.org/officeDocument/2006/relationships" id="2147483669" r:id="R77d18edb305942b6"/>
    <p:sldLayoutId xmlns:r="http://schemas.openxmlformats.org/officeDocument/2006/relationships" id="2147483670" r:id="R048849b9ddca404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4470f0e0af4ee3" /><Relationship Type="http://schemas.openxmlformats.org/officeDocument/2006/relationships/notesSlide" Target="/ppt/notesSlides/notesSlide1.xml" Id="R3f5353da75f0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d3ddc8b92949a5" /><Relationship Type="http://schemas.openxmlformats.org/officeDocument/2006/relationships/notesSlide" Target="/ppt/notesSlides/notesSlide2.xml" Id="R1b8571a3f58345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41a604d4ee649cc" /><Relationship Type="http://schemas.openxmlformats.org/officeDocument/2006/relationships/notesSlide" Target="/ppt/notesSlides/notesSlide3.xml" Id="R91c4fc04a25a4d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a5f10986dc4c0b" /><Relationship Type="http://schemas.openxmlformats.org/officeDocument/2006/relationships/notesSlide" Target="/ppt/notesSlides/notesSlide4.xml" Id="Re259483f3046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5422f77436445b8" /><Relationship Type="http://schemas.openxmlformats.org/officeDocument/2006/relationships/notesSlide" Target="/ppt/notesSlides/notesSlide5.xml" Id="Rda093a11cb7e48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60d4018f2cf4ba6" /><Relationship Type="http://schemas.openxmlformats.org/officeDocument/2006/relationships/notesSlide" Target="/ppt/notesSlides/notesSlide6.xml" Id="R87fd50d6ffa6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e955095aa54b4f" /><Relationship Type="http://schemas.openxmlformats.org/officeDocument/2006/relationships/notesSlide" Target="/ppt/notesSlides/notesSlide7.xml" Id="R1683e2791dd441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c30c7e758243b3" /><Relationship Type="http://schemas.openxmlformats.org/officeDocument/2006/relationships/notesSlide" Target="/ppt/notesSlides/notesSlide8.xml" Id="R3053bbfccc7e48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a9ae540c404bb5" /><Relationship Type="http://schemas.openxmlformats.org/officeDocument/2006/relationships/notesSlide" Target="/ppt/notesSlides/notesSlide9.xml" Id="R51dc1bd1650a48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e05d5a9e7dc45fd" /><Relationship Type="http://schemas.openxmlformats.org/officeDocument/2006/relationships/notesSlide" Target="/ppt/notesSlides/notesSlide10.xml" Id="Rd463118c179c4a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925815a9d04cdf" /><Relationship Type="http://schemas.openxmlformats.org/officeDocument/2006/relationships/notesSlide" Target="/ppt/notesSlides/notesSlide11.xml" Id="R71d4f6cc83b743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339250663f4372" /><Relationship Type="http://schemas.openxmlformats.org/officeDocument/2006/relationships/notesSlide" Target="/ppt/notesSlides/notesSlide12.xml" Id="R5209d782ec3b45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ebd8bcd5a74a4e" /><Relationship Type="http://schemas.openxmlformats.org/officeDocument/2006/relationships/image" Target="/ppt/media/image4.png" Id="R2b42b333731240d2" /><Relationship Type="http://schemas.openxmlformats.org/officeDocument/2006/relationships/notesSlide" Target="/ppt/notesSlides/notesSlide13.xml" Id="Rac9e9186c1844f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597070aa334ec4" /><Relationship Type="http://schemas.openxmlformats.org/officeDocument/2006/relationships/notesSlide" Target="/ppt/notesSlides/notesSlide14.xml" Id="Rc6a8276881564e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3ad1ae86574bb1" /><Relationship Type="http://schemas.openxmlformats.org/officeDocument/2006/relationships/notesSlide" Target="/ppt/notesSlides/notesSlide15.xml" Id="R6e10e13e3f4c44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d19ca35d5d44f3" /><Relationship Type="http://schemas.openxmlformats.org/officeDocument/2006/relationships/notesSlide" Target="/ppt/notesSlides/notesSlide16.xml" Id="R58f49ab7afc642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24">
            <a:extLst xmlns:a="http://schemas.openxmlformats.org/drawingml/2006/main">
              <a:ext uri="{FF2B5EF4-FFF2-40B4-BE49-F238E27FC236}">
                <a16:creationId xmlns:a16="http://schemas.microsoft.com/office/drawing/2014/main" id="{97EB7C73-D77C-4A60-B696-F7A744F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150" y="1412050"/>
            <a:ext cx="6827700" cy="58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2400" b="1">
                <a:solidFill>
                  <a:srgbClr val="0B4FB3"/>
                </a:solidFill>
              </a:defRPr>
            </a:pPr>
            <a:r>
              <a:rPr sz="2400" b="1">
                <a:solidFill>
                  <a:srgbClr val="0B4FB3"/>
                </a:solidFill>
                <a:latin typeface="Nunito"/>
                <a:ea typeface="Nunito"/>
                <a:cs typeface="Nunito"/>
              </a:rPr>
              <a:t>MLOps Pipeline for Tourism Package Prediction</a:t>
            </a:r>
            <a:endParaRPr sz="3600" b="1">
              <a:solidFill>
                <a:srgbClr val="0E39A9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3" name="Google Shape;103;p24">
            <a:extLst xmlns:a="http://schemas.openxmlformats.org/drawingml/2006/main">
              <a:ext uri="{FF2B5EF4-FFF2-40B4-BE49-F238E27FC236}">
                <a16:creationId xmlns:a16="http://schemas.microsoft.com/office/drawing/2014/main" id="{1B5B9616-532C-440A-ACBA-D815BE17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0" y="2038575"/>
            <a:ext cx="6827700" cy="49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1725">
                <a:solidFill>
                  <a:srgbClr val="1B5FDB"/>
                </a:solidFill>
              </a:defRPr>
            </a:pPr>
            <a:r>
              <a:rPr sz="1725">
                <a:solidFill>
                  <a:srgbClr val="1B5FDB"/>
                </a:solidFill>
                <a:latin typeface="Nunito"/>
                <a:ea typeface="Nunito"/>
                <a:cs typeface="Nunito"/>
              </a:rPr>
              <a:t>Done by Mazin Alahmadi</a:t>
            </a:r>
            <a:endParaRPr sz="3000">
              <a:solidFill>
                <a:srgbClr val="0E39A9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04" name="Google Shape;104;p24">
            <a:extLst xmlns:a="http://schemas.openxmlformats.org/drawingml/2006/main">
              <a:ext uri="{FF2B5EF4-FFF2-40B4-BE49-F238E27FC236}">
                <a16:creationId xmlns:a16="http://schemas.microsoft.com/office/drawing/2014/main" id="{94C7792B-13A7-43A1-A8F5-31E1E36F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0" y="2441950"/>
            <a:ext cx="6827700" cy="49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050">
                <a:solidFill>
                  <a:srgbClr val="1B5FDB"/>
                </a:solidFill>
              </a:defRPr>
            </a:pPr>
            <a:r>
              <a:rPr sz="1050" b="0" i="0" u="none" cap="none">
                <a:solidFill>
                  <a:srgbClr val="1B5FDB"/>
                </a:solidFill>
                <a:latin typeface="Nunito"/>
                <a:ea typeface="Nunito"/>
                <a:cs typeface="Nunito"/>
              </a:rPr>
              <a:t>August 29, 2026</a:t>
            </a:r>
            <a:endParaRPr sz="1600" b="0" i="0" u="none" cap="none">
              <a:solidFill>
                <a:srgbClr val="0E39A9"/>
              </a:solidFill>
              <a:latin typeface="Nunito"/>
              <a:ea typeface="Nunito"/>
              <a:cs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882262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25">
            <a:extLst xmlns:a="http://schemas.openxmlformats.org/drawingml/2006/main">
              <a:ext uri="{FF2B5EF4-FFF2-40B4-BE49-F238E27FC236}">
                <a16:creationId xmlns:a16="http://schemas.microsoft.com/office/drawing/2014/main" id="{FC55846E-11FC-4248-91C4-2C4F9201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Contents / Agenda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0" name="Google Shape;110;p25">
            <a:extLst xmlns:a="http://schemas.openxmlformats.org/drawingml/2006/main">
              <a:ext uri="{FF2B5EF4-FFF2-40B4-BE49-F238E27FC236}">
                <a16:creationId xmlns:a16="http://schemas.microsoft.com/office/drawing/2014/main" id="{CAB1838B-EA46-456A-B6AF-6E54CBC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Executive summary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Business overview and solution approach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Data registration and preparation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Customer insights from tourism data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building, tracking, and performance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Deployment and automated GitHub workflow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Output evidence, recommendations, and appendix</a:t>
            </a:r>
          </a:p>
        </p:txBody>
      </p:sp>
    </p:spTree>
    <p:extLst>
      <p:ext uri="{BB962C8B-B14F-4D97-AF65-F5344CB8AC3E}">
        <p14:creationId xmlns:p14="http://schemas.microsoft.com/office/powerpoint/2010/main" val="9183048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26">
            <a:extLst xmlns:a="http://schemas.openxmlformats.org/drawingml/2006/main">
              <a:ext uri="{FF2B5EF4-FFF2-40B4-BE49-F238E27FC236}">
                <a16:creationId xmlns:a16="http://schemas.microsoft.com/office/drawing/2014/main" id="{208F9FBF-07C4-4C33-B456-4799B8D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Executive Summary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6" name="Google Shape;116;p26">
            <a:extLst xmlns:a="http://schemas.openxmlformats.org/drawingml/2006/main">
              <a:ext uri="{FF2B5EF4-FFF2-40B4-BE49-F238E27FC236}">
                <a16:creationId xmlns:a16="http://schemas.microsoft.com/office/drawing/2014/main" id="{CEDDC716-271F-488E-891D-8F7B4C41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The tourism campaign has a 19.3% package-purchase rate, so better targeting can materially improve sales productivity.</a:t>
            </a:r>
          </a:p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A completed MLOps pipeline now registers data, cleans and splits it, trains a tuned XGBoost model, and packages a deployable Streamlit app.</a:t>
            </a:r>
          </a:p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The best local model achieved 91.3% test accuracy, 76.4% precision, 79.4% recall, and 77.8% F1 at the selected threshold.</a:t>
            </a:r>
          </a:p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Business recommendation: prioritize high-probability customers first, then monitor conversion lift through the automated workflow.</a:t>
            </a:r>
          </a:p>
        </p:txBody>
      </p:sp>
    </p:spTree>
    <p:extLst>
      <p:ext uri="{BB962C8B-B14F-4D97-AF65-F5344CB8AC3E}">
        <p14:creationId xmlns:p14="http://schemas.microsoft.com/office/powerpoint/2010/main" val="9980850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27">
            <a:extLst xmlns:a="http://schemas.openxmlformats.org/drawingml/2006/main">
              <a:ext uri="{FF2B5EF4-FFF2-40B4-BE49-F238E27FC236}">
                <a16:creationId xmlns:a16="http://schemas.microsoft.com/office/drawing/2014/main" id="{D665F1D5-8035-47A4-8CB2-8A61B6D9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Business Overview and Solution Approach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2" name="Google Shape;122;p27">
            <a:extLst xmlns:a="http://schemas.openxmlformats.org/drawingml/2006/main">
              <a:ext uri="{FF2B5EF4-FFF2-40B4-BE49-F238E27FC236}">
                <a16:creationId xmlns:a16="http://schemas.microsoft.com/office/drawing/2014/main" id="{C3E8B9C3-642A-47DA-A78E-D9858CB2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Business problem: sales teams need to focus outreach on customers most likely to purchase a tourism package.</a:t>
            </a:r>
          </a:p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Decision lens: rank prospects before calling so high-fit customers receive faster and better-timed follow-up.</a:t>
            </a:r>
          </a:p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Solution: convert customer attributes into a purchase-probability score using a reproducible, deployment-ready ML workflow.</a:t>
            </a:r>
          </a:p>
          <a:p xmlns:a="http://schemas.openxmlformats.org/drawingml/2006/main">
            <a:pPr>
              <a:spcAft>
                <a:spcPts val="8"/>
              </a:spcAft>
              <a:defRPr sz="1275">
                <a:solidFill>
                  <a:srgbClr val="1B1B1B"/>
                </a:solidFill>
              </a:defRPr>
            </a:pPr>
            <a:r>
              <a:rPr sz="1275">
                <a:solidFill>
                  <a:srgbClr val="1B1B1B"/>
                </a:solidFill>
              </a:rPr>
              <a:t>•  Operating model: GitHub controls source code, Hugging Face stores data/model/app assets, and GitHub Actions runs the pipeline end to end.</a:t>
            </a:r>
          </a:p>
        </p:txBody>
      </p:sp>
    </p:spTree>
    <p:extLst>
      <p:ext uri="{BB962C8B-B14F-4D97-AF65-F5344CB8AC3E}">
        <p14:creationId xmlns:p14="http://schemas.microsoft.com/office/powerpoint/2010/main" val="17445270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27">
            <a:extLst xmlns:a="http://schemas.openxmlformats.org/drawingml/2006/main">
              <a:ext uri="{FF2B5EF4-FFF2-40B4-BE49-F238E27FC236}">
                <a16:creationId xmlns:a16="http://schemas.microsoft.com/office/drawing/2014/main" id="{D665F1D5-8035-47A4-8CB2-8A61B6D9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Data Registration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2" name="Google Shape;122;p27">
            <a:extLst xmlns:a="http://schemas.openxmlformats.org/drawingml/2006/main">
              <a:ext uri="{FF2B5EF4-FFF2-40B4-BE49-F238E27FC236}">
                <a16:creationId xmlns:a16="http://schemas.microsoft.com/office/drawing/2014/main" id="{C3E8B9C3-642A-47DA-A78E-D9858CB2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Master project folder: tourism_project with data, model_building, deployment, hosting, reports, and models subfolders.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Raw data asset: tourism_project/data/tourism.csv, documented with a dataset README for governance.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dataset target: mazin903/tourism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Registration script creates or reuses the dataset repo and uploads the raw dataset files.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Benefit: the workflow has a single governed data source instead of manual file movement.</a:t>
            </a:r>
          </a:p>
        </p:txBody>
      </p:sp>
    </p:spTree>
    <p:extLst>
      <p:ext uri="{BB962C8B-B14F-4D97-AF65-F5344CB8AC3E}">
        <p14:creationId xmlns:p14="http://schemas.microsoft.com/office/powerpoint/2010/main" val="17445270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28">
            <a:extLst xmlns:a="http://schemas.openxmlformats.org/drawingml/2006/main">
              <a:ext uri="{FF2B5EF4-FFF2-40B4-BE49-F238E27FC236}">
                <a16:creationId xmlns:a16="http://schemas.microsoft.com/office/drawing/2014/main" id="{D5FE696A-B516-444C-9CE3-9817F21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Data Preparation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8" name="Google Shape;128;p28">
            <a:extLst xmlns:a="http://schemas.openxmlformats.org/drawingml/2006/main">
              <a:ext uri="{FF2B5EF4-FFF2-40B4-BE49-F238E27FC236}">
                <a16:creationId xmlns:a16="http://schemas.microsoft.com/office/drawing/2014/main" id="{F849ED0A-942B-4F50-8CC7-CC1E9E9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Loaded the tourism dataset from Hugging Face when credentials are available, with local fallback for development.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Removed generated index/customer ID fields, removed duplicates, and standardized inconsistent categorical values.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Imputed missing numeric values with medians and categorical values with modes.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Created a stratified 80/20 split: 3,208 training rows and 803 testing rows.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Saved cleaned, train, and test files locally and prepared automatic upload back to the dataset repo.</a:t>
            </a:r>
          </a:p>
        </p:txBody>
      </p:sp>
    </p:spTree>
    <p:extLst>
      <p:ext uri="{BB962C8B-B14F-4D97-AF65-F5344CB8AC3E}">
        <p14:creationId xmlns:p14="http://schemas.microsoft.com/office/powerpoint/2010/main" val="11378627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28">
            <a:extLst xmlns:a="http://schemas.openxmlformats.org/drawingml/2006/main">
              <a:ext uri="{FF2B5EF4-FFF2-40B4-BE49-F238E27FC236}">
                <a16:creationId xmlns:a16="http://schemas.microsoft.com/office/drawing/2014/main" id="{D5FE696A-B516-444C-9CE3-9817F21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Customer Insights That Drive Targeting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8" name="Google Shape;128;p28">
            <a:extLst xmlns:a="http://schemas.openxmlformats.org/drawingml/2006/main">
              <a:ext uri="{FF2B5EF4-FFF2-40B4-BE49-F238E27FC236}">
                <a16:creationId xmlns:a16="http://schemas.microsoft.com/office/drawing/2014/main" id="{F849ED0A-942B-4F50-8CC7-CC1E9E9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Base purchase rate: 19.3%, confirming the need for selective campaign prioritization.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Passport holders convert at 35.9% versus 12.4% for non-passport customers.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Basic package prospects convert at 30.1%, the strongest product segment in the dataset.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Single customers convert at 30.9%, more than double married and divorced segments.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Recommendation: combine model scores with these high-conversion segments for call-list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11378627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29">
            <a:extLst xmlns:a="http://schemas.openxmlformats.org/drawingml/2006/main">
              <a:ext uri="{FF2B5EF4-FFF2-40B4-BE49-F238E27FC236}">
                <a16:creationId xmlns:a16="http://schemas.microsoft.com/office/drawing/2014/main" id="{A64EE7C2-5160-4A69-9F17-82DBBDB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Model Building with Experimentation Tracking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35" name="Google Shape;135;p29">
            <a:extLst xmlns:a="http://schemas.openxmlformats.org/drawingml/2006/main">
              <a:ext uri="{FF2B5EF4-FFF2-40B4-BE49-F238E27FC236}">
                <a16:creationId xmlns:a16="http://schemas.microsoft.com/office/drawing/2014/main" id="{E0955BDD-47C7-459D-B7F7-C2237E57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choice: XGBoost classifier with preprocessing for numeric and categorical fields.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Class imbalance handled with scale_pos_weight so minority buyers are not ignored.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Grid search evaluated 48 parameter/run combinations using F1 as the selection metric.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MLflow logs parameters, metrics, artifacts, model path, and threshold analysis for comparison.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Best model is packaged for Hugging Face Model Hub target: mazin903/tourism-package-model</a:t>
            </a:r>
          </a:p>
        </p:txBody>
      </p:sp>
    </p:spTree>
    <p:extLst>
      <p:ext uri="{BB962C8B-B14F-4D97-AF65-F5344CB8AC3E}">
        <p14:creationId xmlns:p14="http://schemas.microsoft.com/office/powerpoint/2010/main" val="19179137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35">
            <a:extLst xmlns:a="http://schemas.openxmlformats.org/drawingml/2006/main">
              <a:ext uri="{FF2B5EF4-FFF2-40B4-BE49-F238E27FC236}">
                <a16:creationId xmlns:a16="http://schemas.microsoft.com/office/drawing/2014/main" id="{1080B06C-BED5-4433-A1CB-4EB6C88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Model Performance and Decision Threshold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71" name="Google Shape;171;p35">
            <a:extLst xmlns:a="http://schemas.openxmlformats.org/drawingml/2006/main">
              <a:ext uri="{FF2B5EF4-FFF2-40B4-BE49-F238E27FC236}">
                <a16:creationId xmlns:a16="http://schemas.microsoft.com/office/drawing/2014/main" id="{8DCDD439-2AD8-4E17-8144-5896794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Selected threshold: 0.50, chosen for the best local F1 with a balanced precision/recall tradeoff.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Test performance: 91.3% accuracy, 76.4% precision, 79.4% recall, 77.8% F1.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Business meaning: most predicted buyers are actionable, while recall still captures nearly four out of five actual buyers.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Top signals: Passport, Basic package, Single marital status, Executive designation, and CityTier.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Operational use: score prospects, prioritize top-probability leads, and monitor uplift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2613369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Google Shape;141;p30">
            <a:extLst xmlns:a="http://schemas.openxmlformats.org/drawingml/2006/main">
              <a:ext uri="{FF2B5EF4-FFF2-40B4-BE49-F238E27FC236}">
                <a16:creationId xmlns:a16="http://schemas.microsoft.com/office/drawing/2014/main" id="{200045EF-1ACA-4A4E-B4D4-1C736E2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</a:rPr>
              <a:t>Model Deployment</a:t>
            </a:r>
            <a:endParaRPr sz="2200" b="1" i="0" u="none" cap="non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</a:endParaRPr>
          </a:p>
        </p:txBody>
      </p:sp>
      <p:sp>
        <p:nvSpPr>
          <p:cNvPr id="142" name="Google Shape;142;p30">
            <a:extLst xmlns:a="http://schemas.openxmlformats.org/drawingml/2006/main">
              <a:ext uri="{FF2B5EF4-FFF2-40B4-BE49-F238E27FC236}">
                <a16:creationId xmlns:a16="http://schemas.microsoft.com/office/drawing/2014/main" id="{6BFE5440-F81C-4808-AC7D-52985153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Deployment surface: Streamlit app on Hugging Face Spaces, with Dockerfile configuration retained for portability.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The app downloads the registered model bundle from Hugging Face Model Hub at startup.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User inputs are converted into the same feature schema used during model training.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Output: purchase probability, decision threshold, and a business-friendly follow-up recommendation.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Space target: mazin903/tourism-package-prediction</a:t>
            </a:r>
          </a:p>
        </p:txBody>
      </p:sp>
    </p:spTree>
    <p:extLst>
      <p:ext uri="{BB962C8B-B14F-4D97-AF65-F5344CB8AC3E}">
        <p14:creationId xmlns:p14="http://schemas.microsoft.com/office/powerpoint/2010/main" val="16262143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Google Shape;147;p31">
            <a:extLst xmlns:a="http://schemas.openxmlformats.org/drawingml/2006/main">
              <a:ext uri="{FF2B5EF4-FFF2-40B4-BE49-F238E27FC236}">
                <a16:creationId xmlns:a16="http://schemas.microsoft.com/office/drawing/2014/main" id="{9A434EDF-9A69-423D-BB77-5862576C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298554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Automated GitHub Actions Workflow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48" name="Google Shape;148;p31">
            <a:extLst xmlns:a="http://schemas.openxmlformats.org/drawingml/2006/main">
              <a:ext uri="{FF2B5EF4-FFF2-40B4-BE49-F238E27FC236}">
                <a16:creationId xmlns:a16="http://schemas.microsoft.com/office/drawing/2014/main" id="{27436AE2-818D-4267-9901-14B08BD4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0" y="10143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Trigger: push to main or manual workflow dispatch.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Pipeline steps: install dependencies, register dataset, clean/split data, generate analysis, train/register model, and deploy app.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Secrets and variables separate credentials from source code: HF_TOKEN, HF_USERNAME, dataset repo, model repo, and Space repo.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Generated processed data and reports are committed back to main with skip-ci protection.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Benefit: one repeatable workflow replaces manual notebook-only execution.</a:t>
            </a:r>
          </a:p>
        </p:txBody>
      </p:sp>
    </p:spTree>
    <p:extLst>
      <p:ext uri="{BB962C8B-B14F-4D97-AF65-F5344CB8AC3E}">
        <p14:creationId xmlns:p14="http://schemas.microsoft.com/office/powerpoint/2010/main" val="692806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32">
            <a:extLst xmlns:a="http://schemas.openxmlformats.org/drawingml/2006/main">
              <a:ext uri="{FF2B5EF4-FFF2-40B4-BE49-F238E27FC236}">
                <a16:creationId xmlns:a16="http://schemas.microsoft.com/office/drawing/2014/main" id="{D9C90942-4E94-4A01-9C1B-892F24EF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Output Evaluation Evidence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54" name="Google Shape;154;p32">
            <a:extLst xmlns:a="http://schemas.openxmlformats.org/drawingml/2006/main">
              <a:ext uri="{FF2B5EF4-FFF2-40B4-BE49-F238E27FC236}">
                <a16:creationId xmlns:a16="http://schemas.microsoft.com/office/drawing/2014/main" id="{30C29CA2-B20F-4D4B-B3DE-AD88B32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GitHub repository: https://github.com/mazin903/MLOps-pipeline-on-GitHub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dataset: https://huggingface.co/datasets/mazin903/tourism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Hugging Face model: https://huggingface.co/mazin903/tourism-package-model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Streamlit app on Hugging Face Space: https://huggingface.co/spaces/mazin903/tourism-package-prediction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Screenshots to capture after first account run: repo folder structure, green GitHub Actions workflow, Hugging Face dataset/model pages, and Streamlit app result.</a:t>
            </a:r>
          </a:p>
        </p:txBody>
      </p:sp>
    </p:spTree>
    <p:extLst>
      <p:ext uri="{BB962C8B-B14F-4D97-AF65-F5344CB8AC3E}">
        <p14:creationId xmlns:p14="http://schemas.microsoft.com/office/powerpoint/2010/main" val="14972674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59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42b333731240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2692825"/>
            <a:ext cx="8893198" cy="850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440965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34">
            <a:extLst xmlns:a="http://schemas.openxmlformats.org/drawingml/2006/main">
              <a:ext uri="{FF2B5EF4-FFF2-40B4-BE49-F238E27FC236}">
                <a16:creationId xmlns:a16="http://schemas.microsoft.com/office/drawing/2014/main" id="{DE1ABB6C-4568-40B7-BF66-DB8B58B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Dataset Overview and Registration Details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65" name="Google Shape;165;p34">
            <a:extLst xmlns:a="http://schemas.openxmlformats.org/drawingml/2006/main">
              <a:ext uri="{FF2B5EF4-FFF2-40B4-BE49-F238E27FC236}">
                <a16:creationId xmlns:a16="http://schemas.microsoft.com/office/drawing/2014/main" id="{05D41B69-831C-456E-B430-C4FC9D0A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Source file: tourism.csv with customer demographics, interaction history, product pitch attributes, and purchase outcome.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Target variable: ProdTaken, where 1 means the customer purchased the package and 0 means they did not.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features include age, income, city tier, follow-ups, satisfaction, passport, car ownership, occupation, package pitched, and designation.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Processed outputs: cleaned_tourism.csv, Xtrain.csv, Xtest.csv, ytrain.csv, and ytest.csv.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Registration plan: raw and processed files are uploaded to the Hugging Face dataset repo for reproducible downstream steps.</a:t>
            </a:r>
          </a:p>
        </p:txBody>
      </p:sp>
    </p:spTree>
    <p:extLst>
      <p:ext uri="{BB962C8B-B14F-4D97-AF65-F5344CB8AC3E}">
        <p14:creationId xmlns:p14="http://schemas.microsoft.com/office/powerpoint/2010/main" val="1896179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35">
            <a:extLst xmlns:a="http://schemas.openxmlformats.org/drawingml/2006/main">
              <a:ext uri="{FF2B5EF4-FFF2-40B4-BE49-F238E27FC236}">
                <a16:creationId xmlns:a16="http://schemas.microsoft.com/office/drawing/2014/main" id="{1080B06C-BED5-4433-A1CB-4EB6C88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</a:rPr>
              <a:t>Experimentation Tracking Details</a:t>
            </a:r>
            <a:endParaRPr sz="2200" b="1" i="0" u="none" cap="none">
              <a:solidFill>
                <a:srgbClr val="00000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71" name="Google Shape;171;p35">
            <a:extLst xmlns:a="http://schemas.openxmlformats.org/drawingml/2006/main">
              <a:ext uri="{FF2B5EF4-FFF2-40B4-BE49-F238E27FC236}">
                <a16:creationId xmlns:a16="http://schemas.microsoft.com/office/drawing/2014/main" id="{8DCDD439-2AD8-4E17-8144-5896794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Algorithm: XGBoost classifier selected from the assignment-approved model family.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Tuning grid: n_estimators 100/200, max_depth 3/5, learning_rate 0.05/0.10, reg_lambda 1.0/5.0, colsample values 0.8.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Best parameters: n_estimators 200, max_depth 5, learning_rate 0.10, reg_lambda 1.0.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Tracked artifacts: metrics, classification report, threshold analysis, feature importance, and joblib model bundle.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Model Hub registration stores the trained model and model card for deployment reuse.</a:t>
            </a:r>
          </a:p>
        </p:txBody>
      </p:sp>
    </p:spTree>
    <p:extLst>
      <p:ext uri="{BB962C8B-B14F-4D97-AF65-F5344CB8AC3E}">
        <p14:creationId xmlns:p14="http://schemas.microsoft.com/office/powerpoint/2010/main" val="2613369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36">
            <a:extLst xmlns:a="http://schemas.openxmlformats.org/drawingml/2006/main">
              <a:ext uri="{FF2B5EF4-FFF2-40B4-BE49-F238E27FC236}">
                <a16:creationId xmlns:a16="http://schemas.microsoft.com/office/drawing/2014/main" id="{FA5B8316-8084-4E62-956A-B9CBEC9B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289279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100" b="1">
                <a:solidFill>
                  <a:srgbClr val="1B1B1B"/>
                </a:solidFill>
              </a:defRPr>
            </a:pPr>
            <a:r>
              <a:rPr sz="2100" b="1" i="0" u="none" cap="none">
                <a:solidFill>
                  <a:srgbClr val="1B1B1B"/>
                </a:solidFill>
                <a:latin typeface="Nunito"/>
                <a:ea typeface="Nunito"/>
                <a:cs typeface="Nunito"/>
              </a:rPr>
              <a:t>GitHub Actions Workflow Details</a:t>
            </a:r>
            <a:endParaRPr sz="2200" b="1" i="0" u="none" cap="none">
              <a:solidFill>
                <a:schemeClr val="dk1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77" name="Google Shape;177;p36">
            <a:extLst xmlns:a="http://schemas.openxmlformats.org/drawingml/2006/main">
              <a:ext uri="{FF2B5EF4-FFF2-40B4-BE49-F238E27FC236}">
                <a16:creationId xmlns:a16="http://schemas.microsoft.com/office/drawing/2014/main" id="{B91A998A-827F-4F0D-9099-8714A46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0" y="861975"/>
            <a:ext cx="8629800" cy="37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Repository-ready workflow: .github/workflows/pipeline.yml.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1: install Python dependencies and validate the project environment.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2: register raw data, prepare train/test assets, and generate business summary tables.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3: train the model, log results, and upload the best bundle to Hugging Face Model Hub.</a:t>
            </a:r>
          </a:p>
          <a:p xmlns:a="http://schemas.openxmlformats.org/drawingml/2006/main">
            <a:pPr>
              <a:spcAft>
                <a:spcPts val="8"/>
              </a:spcAft>
              <a:defRPr sz="1163">
                <a:solidFill>
                  <a:srgbClr val="1B1B1B"/>
                </a:solidFill>
              </a:defRPr>
            </a:pPr>
            <a:r>
              <a:rPr sz="1163">
                <a:solidFill>
                  <a:srgbClr val="1B1B1B"/>
                </a:solidFill>
              </a:rPr>
              <a:t>•  Step 4: push Streamlit deployment files to Hugging Face Spaces and commit generated reports back to main.</a:t>
            </a:r>
          </a:p>
        </p:txBody>
      </p:sp>
    </p:spTree>
    <p:extLst>
      <p:ext uri="{BB962C8B-B14F-4D97-AF65-F5344CB8AC3E}">
        <p14:creationId xmlns:p14="http://schemas.microsoft.com/office/powerpoint/2010/main" val="193070001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2026-08-29T18:45:37.0670000Z</dcterms:created>
  <dcterms:modified xsi:type="dcterms:W3CDTF">2026-08-29T18:45:37.0670000Z</dcterms:modified>
</coreProperties>
</file>